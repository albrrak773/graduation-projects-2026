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90" r:id="rId1"/>
  </p:sldMasterIdLst>
  <p:sldIdLst>
    <p:sldId id="256" r:id="rId2"/>
  </p:sldIdLst>
  <p:sldSz cx="28800425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007" autoAdjust="0"/>
    <p:restoredTop sz="94660"/>
  </p:normalViewPr>
  <p:slideViewPr>
    <p:cSldViewPr snapToGrid="0">
      <p:cViewPr>
        <p:scale>
          <a:sx n="33" d="100"/>
          <a:sy n="33" d="100"/>
        </p:scale>
        <p:origin x="2538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0032" y="7070108"/>
            <a:ext cx="24480361" cy="15040222"/>
          </a:xfrm>
        </p:spPr>
        <p:txBody>
          <a:bodyPr anchor="b"/>
          <a:lstStyle>
            <a:lvl1pPr algn="ctr">
              <a:defRPr sz="18898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22690338"/>
            <a:ext cx="21600319" cy="10430151"/>
          </a:xfrm>
        </p:spPr>
        <p:txBody>
          <a:bodyPr/>
          <a:lstStyle>
            <a:lvl1pPr marL="0" indent="0" algn="ctr">
              <a:buNone/>
              <a:defRPr sz="7559"/>
            </a:lvl1pPr>
            <a:lvl2pPr marL="1440043" indent="0" algn="ctr">
              <a:buNone/>
              <a:defRPr sz="6299"/>
            </a:lvl2pPr>
            <a:lvl3pPr marL="2880086" indent="0" algn="ctr">
              <a:buNone/>
              <a:defRPr sz="5669"/>
            </a:lvl3pPr>
            <a:lvl4pPr marL="4320129" indent="0" algn="ctr">
              <a:buNone/>
              <a:defRPr sz="5040"/>
            </a:lvl4pPr>
            <a:lvl5pPr marL="5760171" indent="0" algn="ctr">
              <a:buNone/>
              <a:defRPr sz="5040"/>
            </a:lvl5pPr>
            <a:lvl6pPr marL="7200214" indent="0" algn="ctr">
              <a:buNone/>
              <a:defRPr sz="5040"/>
            </a:lvl6pPr>
            <a:lvl7pPr marL="8640257" indent="0" algn="ctr">
              <a:buNone/>
              <a:defRPr sz="5040"/>
            </a:lvl7pPr>
            <a:lvl8pPr marL="10080300" indent="0" algn="ctr">
              <a:buNone/>
              <a:defRPr sz="5040"/>
            </a:lvl8pPr>
            <a:lvl9pPr marL="11520343" indent="0" algn="ctr">
              <a:buNone/>
              <a:defRPr sz="504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0BD9F-B303-4F67-A166-2A6A0D86F8F5}" type="datetimeFigureOut">
              <a:rPr lang="ar-SA" smtClean="0"/>
              <a:t>19/11/47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DD46C-43FE-49F5-ADDA-D370BEC86A9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69166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0BD9F-B303-4F67-A166-2A6A0D86F8F5}" type="datetimeFigureOut">
              <a:rPr lang="ar-SA" smtClean="0"/>
              <a:t>19/11/47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DD46C-43FE-49F5-ADDA-D370BEC86A9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049447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30" y="10770172"/>
            <a:ext cx="24840367" cy="17970262"/>
          </a:xfrm>
        </p:spPr>
        <p:txBody>
          <a:bodyPr anchor="b"/>
          <a:lstStyle>
            <a:lvl1pPr>
              <a:defRPr sz="18898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30" y="28910440"/>
            <a:ext cx="24840367" cy="9450136"/>
          </a:xfrm>
        </p:spPr>
        <p:txBody>
          <a:bodyPr/>
          <a:lstStyle>
            <a:lvl1pPr marL="0" indent="0">
              <a:buNone/>
              <a:defRPr sz="7559">
                <a:solidFill>
                  <a:schemeClr val="tx1">
                    <a:tint val="82000"/>
                  </a:schemeClr>
                </a:solidFill>
              </a:defRPr>
            </a:lvl1pPr>
            <a:lvl2pPr marL="1440043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2pPr>
            <a:lvl3pPr marL="2880086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3pPr>
            <a:lvl4pPr marL="4320129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4pPr>
            <a:lvl5pPr marL="5760171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5pPr>
            <a:lvl6pPr marL="7200214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6pPr>
            <a:lvl7pPr marL="8640257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7pPr>
            <a:lvl8pPr marL="1008030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8pPr>
            <a:lvl9pPr marL="11520343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0BD9F-B303-4F67-A166-2A6A0D86F8F5}" type="datetimeFigureOut">
              <a:rPr lang="ar-SA" smtClean="0"/>
              <a:t>19/11/47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DD46C-43FE-49F5-ADDA-D370BEC86A9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03814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11500170"/>
            <a:ext cx="12240181" cy="2741040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11500170"/>
            <a:ext cx="12240181" cy="2741040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0BD9F-B303-4F67-A166-2A6A0D86F8F5}" type="datetimeFigureOut">
              <a:rPr lang="ar-SA" smtClean="0"/>
              <a:t>19/11/47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DD46C-43FE-49F5-ADDA-D370BEC86A9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658275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300044"/>
            <a:ext cx="24840367" cy="8350126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4" y="10590160"/>
            <a:ext cx="12183928" cy="5190073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4" y="15780233"/>
            <a:ext cx="12183928" cy="23210346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7" y="10590160"/>
            <a:ext cx="12243932" cy="5190073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7" y="15780233"/>
            <a:ext cx="12243932" cy="23210346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0BD9F-B303-4F67-A166-2A6A0D86F8F5}" type="datetimeFigureOut">
              <a:rPr lang="ar-SA" smtClean="0"/>
              <a:t>19/11/47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DD46C-43FE-49F5-ADDA-D370BEC86A9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3820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0BD9F-B303-4F67-A166-2A6A0D86F8F5}" type="datetimeFigureOut">
              <a:rPr lang="ar-SA" smtClean="0"/>
              <a:t>19/11/47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DD46C-43FE-49F5-ADDA-D370BEC86A9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0668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0BD9F-B303-4F67-A166-2A6A0D86F8F5}" type="datetimeFigureOut">
              <a:rPr lang="ar-SA" smtClean="0"/>
              <a:t>19/11/47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DD46C-43FE-49F5-ADDA-D370BEC86A9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74867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880042"/>
            <a:ext cx="9288887" cy="1008014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6220102"/>
            <a:ext cx="14580215" cy="30700453"/>
          </a:xfrm>
        </p:spPr>
        <p:txBody>
          <a:bodyPr/>
          <a:lstStyle>
            <a:lvl1pPr>
              <a:defRPr sz="10079"/>
            </a:lvl1pPr>
            <a:lvl2pPr>
              <a:defRPr sz="8819"/>
            </a:lvl2pPr>
            <a:lvl3pPr>
              <a:defRPr sz="7559"/>
            </a:lvl3pPr>
            <a:lvl4pPr>
              <a:defRPr sz="6299"/>
            </a:lvl4pPr>
            <a:lvl5pPr>
              <a:defRPr sz="6299"/>
            </a:lvl5pPr>
            <a:lvl6pPr>
              <a:defRPr sz="6299"/>
            </a:lvl6pPr>
            <a:lvl7pPr>
              <a:defRPr sz="6299"/>
            </a:lvl7pPr>
            <a:lvl8pPr>
              <a:defRPr sz="6299"/>
            </a:lvl8pPr>
            <a:lvl9pPr>
              <a:defRPr sz="6299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2960191"/>
            <a:ext cx="9288887" cy="24010358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0BD9F-B303-4F67-A166-2A6A0D86F8F5}" type="datetimeFigureOut">
              <a:rPr lang="ar-SA" smtClean="0"/>
              <a:t>19/11/47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DD46C-43FE-49F5-ADDA-D370BEC86A9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82761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880042"/>
            <a:ext cx="9288887" cy="1008014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6220102"/>
            <a:ext cx="14580215" cy="30700453"/>
          </a:xfrm>
        </p:spPr>
        <p:txBody>
          <a:bodyPr anchor="t"/>
          <a:lstStyle>
            <a:lvl1pPr marL="0" indent="0">
              <a:buNone/>
              <a:defRPr sz="10079"/>
            </a:lvl1pPr>
            <a:lvl2pPr marL="1440043" indent="0">
              <a:buNone/>
              <a:defRPr sz="8819"/>
            </a:lvl2pPr>
            <a:lvl3pPr marL="2880086" indent="0">
              <a:buNone/>
              <a:defRPr sz="7559"/>
            </a:lvl3pPr>
            <a:lvl4pPr marL="4320129" indent="0">
              <a:buNone/>
              <a:defRPr sz="6299"/>
            </a:lvl4pPr>
            <a:lvl5pPr marL="5760171" indent="0">
              <a:buNone/>
              <a:defRPr sz="6299"/>
            </a:lvl5pPr>
            <a:lvl6pPr marL="7200214" indent="0">
              <a:buNone/>
              <a:defRPr sz="6299"/>
            </a:lvl6pPr>
            <a:lvl7pPr marL="8640257" indent="0">
              <a:buNone/>
              <a:defRPr sz="6299"/>
            </a:lvl7pPr>
            <a:lvl8pPr marL="10080300" indent="0">
              <a:buNone/>
              <a:defRPr sz="6299"/>
            </a:lvl8pPr>
            <a:lvl9pPr marL="11520343" indent="0">
              <a:buNone/>
              <a:defRPr sz="6299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2960191"/>
            <a:ext cx="9288887" cy="24010358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0BD9F-B303-4F67-A166-2A6A0D86F8F5}" type="datetimeFigureOut">
              <a:rPr lang="ar-SA" smtClean="0"/>
              <a:t>19/11/47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DD46C-43FE-49F5-ADDA-D370BEC86A9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60877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0BD9F-B303-4F67-A166-2A6A0D86F8F5}" type="datetimeFigureOut">
              <a:rPr lang="ar-SA" smtClean="0"/>
              <a:t>19/11/47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DD46C-43FE-49F5-ADDA-D370BEC86A9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42910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6" y="2300034"/>
            <a:ext cx="6210092" cy="36610544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31" y="2300034"/>
            <a:ext cx="18270270" cy="36610544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0BD9F-B303-4F67-A166-2A6A0D86F8F5}" type="datetimeFigureOut">
              <a:rPr lang="ar-SA" smtClean="0"/>
              <a:t>19/11/47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DD46C-43FE-49F5-ADDA-D370BEC86A9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674521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2300044"/>
            <a:ext cx="24840367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11500170"/>
            <a:ext cx="24840367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40040601"/>
            <a:ext cx="6480096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D0BD9F-B303-4F67-A166-2A6A0D86F8F5}" type="datetimeFigureOut">
              <a:rPr lang="ar-SA" smtClean="0"/>
              <a:t>19/11/47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40040601"/>
            <a:ext cx="9720143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40040601"/>
            <a:ext cx="6480096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3DD46C-43FE-49F5-ADDA-D370BEC86A9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43310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2880086" rtl="1" eaLnBrk="1" latinLnBrk="0" hangingPunct="1">
        <a:lnSpc>
          <a:spcPct val="90000"/>
        </a:lnSpc>
        <a:spcBef>
          <a:spcPct val="0"/>
        </a:spcBef>
        <a:buNone/>
        <a:defRPr sz="1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21" indent="-720021" algn="r" defTabSz="2880086" rtl="1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1pPr>
      <a:lvl2pPr marL="2160064" indent="-720021" algn="r" defTabSz="2880086" rtl="1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2pPr>
      <a:lvl3pPr marL="3600107" indent="-720021" algn="r" defTabSz="2880086" rtl="1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6299" kern="1200">
          <a:solidFill>
            <a:schemeClr val="tx1"/>
          </a:solidFill>
          <a:latin typeface="+mn-lt"/>
          <a:ea typeface="+mn-ea"/>
          <a:cs typeface="+mn-cs"/>
        </a:defRPr>
      </a:lvl3pPr>
      <a:lvl4pPr marL="5040150" indent="-720021" algn="r" defTabSz="2880086" rtl="1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6480193" indent="-720021" algn="r" defTabSz="2880086" rtl="1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920236" indent="-720021" algn="r" defTabSz="2880086" rtl="1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9360278" indent="-720021" algn="r" defTabSz="2880086" rtl="1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800321" indent="-720021" algn="r" defTabSz="2880086" rtl="1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2240364" indent="-720021" algn="r" defTabSz="2880086" rtl="1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2880086" rtl="1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algn="r" defTabSz="2880086" rtl="1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880086" algn="r" defTabSz="2880086" rtl="1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3pPr>
      <a:lvl4pPr marL="4320129" algn="r" defTabSz="2880086" rtl="1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5760171" algn="r" defTabSz="2880086" rtl="1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200214" algn="r" defTabSz="2880086" rtl="1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8640257" algn="r" defTabSz="2880086" rtl="1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080300" algn="r" defTabSz="2880086" rtl="1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1520343" algn="r" defTabSz="2880086" rtl="1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علامة الطرح 5">
            <a:extLst>
              <a:ext uri="{FF2B5EF4-FFF2-40B4-BE49-F238E27FC236}">
                <a16:creationId xmlns:a16="http://schemas.microsoft.com/office/drawing/2014/main" id="{0D54C328-D185-1239-0A7E-A90BCEF885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283441" y="-27019"/>
            <a:ext cx="39367306" cy="9210776"/>
          </a:xfrm>
          <a:prstGeom prst="mathMinus">
            <a:avLst>
              <a:gd name="adj1" fmla="val 100000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19" name="مخطط انسيابي: معالجة متعاقبة 18">
            <a:extLst>
              <a:ext uri="{FF2B5EF4-FFF2-40B4-BE49-F238E27FC236}">
                <a16:creationId xmlns:a16="http://schemas.microsoft.com/office/drawing/2014/main" id="{151E8430-7E59-65A9-8DDF-C8ACE1DAC44B}"/>
              </a:ext>
            </a:extLst>
          </p:cNvPr>
          <p:cNvSpPr/>
          <p:nvPr/>
        </p:nvSpPr>
        <p:spPr>
          <a:xfrm>
            <a:off x="914400" y="12677067"/>
            <a:ext cx="13000383" cy="11790927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effectLst>
            <a:glow rad="1079500">
              <a:schemeClr val="accent1">
                <a:alpha val="40000"/>
              </a:schemeClr>
            </a:glow>
            <a:outerShdw blurRad="635000" dist="50800" dir="5400000" sx="102000" sy="102000" algn="ctr" rotWithShape="0">
              <a:srgbClr val="000000">
                <a:alpha val="80000"/>
              </a:srgbClr>
            </a:outerShdw>
            <a:reflection stA="45000"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20" name="مخطط انسيابي: معالجة متعاقبة 19">
            <a:extLst>
              <a:ext uri="{FF2B5EF4-FFF2-40B4-BE49-F238E27FC236}">
                <a16:creationId xmlns:a16="http://schemas.microsoft.com/office/drawing/2014/main" id="{A3A42243-7015-E506-9382-A1D242E21633}"/>
              </a:ext>
            </a:extLst>
          </p:cNvPr>
          <p:cNvSpPr/>
          <p:nvPr/>
        </p:nvSpPr>
        <p:spPr>
          <a:xfrm>
            <a:off x="397565" y="12677065"/>
            <a:ext cx="437322" cy="11790927"/>
          </a:xfrm>
          <a:prstGeom prst="flowChartAlternateProcess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3" name="مخطط انسيابي: رابط 22">
            <a:extLst>
              <a:ext uri="{FF2B5EF4-FFF2-40B4-BE49-F238E27FC236}">
                <a16:creationId xmlns:a16="http://schemas.microsoft.com/office/drawing/2014/main" id="{84AC47A0-FC3E-BF42-E483-39A756727777}"/>
              </a:ext>
            </a:extLst>
          </p:cNvPr>
          <p:cNvSpPr/>
          <p:nvPr/>
        </p:nvSpPr>
        <p:spPr>
          <a:xfrm>
            <a:off x="758952" y="25228530"/>
            <a:ext cx="1828800" cy="1828800"/>
          </a:xfrm>
          <a:prstGeom prst="flowChartConnector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8000" dirty="0"/>
              <a:t>3</a:t>
            </a:r>
            <a:endParaRPr lang="ar-SA" sz="8000" dirty="0"/>
          </a:p>
        </p:txBody>
      </p:sp>
      <p:sp>
        <p:nvSpPr>
          <p:cNvPr id="24" name="مخطط انسيابي: رابط 23">
            <a:extLst>
              <a:ext uri="{FF2B5EF4-FFF2-40B4-BE49-F238E27FC236}">
                <a16:creationId xmlns:a16="http://schemas.microsoft.com/office/drawing/2014/main" id="{014C95F8-B577-63D7-ABEE-5F4C9F9DE51D}"/>
              </a:ext>
            </a:extLst>
          </p:cNvPr>
          <p:cNvSpPr/>
          <p:nvPr/>
        </p:nvSpPr>
        <p:spPr>
          <a:xfrm>
            <a:off x="14853373" y="10848267"/>
            <a:ext cx="1828800" cy="1828800"/>
          </a:xfrm>
          <a:prstGeom prst="flowChartConnector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8000" dirty="0"/>
              <a:t>2</a:t>
            </a:r>
            <a:endParaRPr lang="ar-SA" sz="8000" dirty="0"/>
          </a:p>
        </p:txBody>
      </p:sp>
      <p:sp>
        <p:nvSpPr>
          <p:cNvPr id="25" name="مخطط انسيابي: رابط 24">
            <a:extLst>
              <a:ext uri="{FF2B5EF4-FFF2-40B4-BE49-F238E27FC236}">
                <a16:creationId xmlns:a16="http://schemas.microsoft.com/office/drawing/2014/main" id="{0F868603-354D-7ECF-7625-9E7C317123C8}"/>
              </a:ext>
            </a:extLst>
          </p:cNvPr>
          <p:cNvSpPr/>
          <p:nvPr/>
        </p:nvSpPr>
        <p:spPr>
          <a:xfrm>
            <a:off x="914400" y="10848267"/>
            <a:ext cx="1828800" cy="1828800"/>
          </a:xfrm>
          <a:prstGeom prst="flowChartConnector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8000" dirty="0"/>
              <a:t>1</a:t>
            </a:r>
            <a:endParaRPr lang="ar-SA" sz="8000" dirty="0"/>
          </a:p>
        </p:txBody>
      </p:sp>
      <p:sp>
        <p:nvSpPr>
          <p:cNvPr id="26" name="مخطط انسيابي: رابط 25">
            <a:extLst>
              <a:ext uri="{FF2B5EF4-FFF2-40B4-BE49-F238E27FC236}">
                <a16:creationId xmlns:a16="http://schemas.microsoft.com/office/drawing/2014/main" id="{89191690-59ED-D1F3-D718-74838748BF0E}"/>
              </a:ext>
            </a:extLst>
          </p:cNvPr>
          <p:cNvSpPr/>
          <p:nvPr/>
        </p:nvSpPr>
        <p:spPr>
          <a:xfrm>
            <a:off x="14829184" y="25228530"/>
            <a:ext cx="1828800" cy="1828800"/>
          </a:xfrm>
          <a:prstGeom prst="flowChartConnector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8000" dirty="0"/>
              <a:t>4</a:t>
            </a:r>
            <a:endParaRPr lang="ar-SA" sz="8000" dirty="0"/>
          </a:p>
        </p:txBody>
      </p:sp>
      <p:sp>
        <p:nvSpPr>
          <p:cNvPr id="27" name="مخطط انسيابي: معالجة متعاقبة 26">
            <a:extLst>
              <a:ext uri="{FF2B5EF4-FFF2-40B4-BE49-F238E27FC236}">
                <a16:creationId xmlns:a16="http://schemas.microsoft.com/office/drawing/2014/main" id="{BCC43B5A-9ED1-613E-42BD-D691B32C9C7B}"/>
              </a:ext>
            </a:extLst>
          </p:cNvPr>
          <p:cNvSpPr/>
          <p:nvPr/>
        </p:nvSpPr>
        <p:spPr>
          <a:xfrm>
            <a:off x="14908764" y="12677066"/>
            <a:ext cx="13000383" cy="11790927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effectLst>
            <a:glow rad="1079500">
              <a:schemeClr val="accent1">
                <a:alpha val="40000"/>
              </a:schemeClr>
            </a:glow>
            <a:outerShdw blurRad="635000" dist="50800" dir="5400000" sx="102000" sy="102000" algn="ctr" rotWithShape="0">
              <a:srgbClr val="000000">
                <a:alpha val="8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28" name="مخطط انسيابي: معالجة متعاقبة 27">
            <a:extLst>
              <a:ext uri="{FF2B5EF4-FFF2-40B4-BE49-F238E27FC236}">
                <a16:creationId xmlns:a16="http://schemas.microsoft.com/office/drawing/2014/main" id="{7D053477-A2F0-9479-264F-5866475EAB75}"/>
              </a:ext>
            </a:extLst>
          </p:cNvPr>
          <p:cNvSpPr/>
          <p:nvPr/>
        </p:nvSpPr>
        <p:spPr>
          <a:xfrm>
            <a:off x="14391862" y="12677065"/>
            <a:ext cx="437322" cy="11790927"/>
          </a:xfrm>
          <a:prstGeom prst="flowChartAlternateProcess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9" name="مربع نص 28">
            <a:extLst>
              <a:ext uri="{FF2B5EF4-FFF2-40B4-BE49-F238E27FC236}">
                <a16:creationId xmlns:a16="http://schemas.microsoft.com/office/drawing/2014/main" id="{EDB09C81-8F16-1F76-B6D1-DFDC72771D51}"/>
              </a:ext>
            </a:extLst>
          </p:cNvPr>
          <p:cNvSpPr txBox="1"/>
          <p:nvPr/>
        </p:nvSpPr>
        <p:spPr>
          <a:xfrm>
            <a:off x="2822713" y="11254835"/>
            <a:ext cx="5665270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6000" b="1" dirty="0">
                <a:solidFill>
                  <a:srgbClr val="112544"/>
                </a:solidFill>
                <a:latin typeface="Arial"/>
              </a:rPr>
              <a:t>Introduction</a:t>
            </a:r>
            <a:endParaRPr lang="ar-SA" sz="6000" dirty="0"/>
          </a:p>
        </p:txBody>
      </p:sp>
      <p:sp>
        <p:nvSpPr>
          <p:cNvPr id="30" name="مربع نص 29">
            <a:extLst>
              <a:ext uri="{FF2B5EF4-FFF2-40B4-BE49-F238E27FC236}">
                <a16:creationId xmlns:a16="http://schemas.microsoft.com/office/drawing/2014/main" id="{60D825C7-A234-467C-EDAD-30DE405C5480}"/>
              </a:ext>
            </a:extLst>
          </p:cNvPr>
          <p:cNvSpPr txBox="1"/>
          <p:nvPr/>
        </p:nvSpPr>
        <p:spPr>
          <a:xfrm>
            <a:off x="16812937" y="11254834"/>
            <a:ext cx="5665270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6000" b="1" dirty="0">
                <a:solidFill>
                  <a:srgbClr val="112544"/>
                </a:solidFill>
                <a:latin typeface="Arial"/>
              </a:rPr>
              <a:t>Methodology</a:t>
            </a:r>
          </a:p>
        </p:txBody>
      </p:sp>
      <p:sp>
        <p:nvSpPr>
          <p:cNvPr id="31" name="مربع نص 30">
            <a:extLst>
              <a:ext uri="{FF2B5EF4-FFF2-40B4-BE49-F238E27FC236}">
                <a16:creationId xmlns:a16="http://schemas.microsoft.com/office/drawing/2014/main" id="{699BC635-976B-BC0E-A8ED-99819493C734}"/>
              </a:ext>
            </a:extLst>
          </p:cNvPr>
          <p:cNvSpPr txBox="1"/>
          <p:nvPr/>
        </p:nvSpPr>
        <p:spPr>
          <a:xfrm>
            <a:off x="1415601" y="13479951"/>
            <a:ext cx="11783564" cy="218521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400" b="1" dirty="0">
                <a:latin typeface="+mj-lt"/>
              </a:rPr>
              <a:t>Cloud storage needs strong protection against unauthorized access and data tampering.</a:t>
            </a:r>
          </a:p>
          <a:p>
            <a:endParaRPr lang="ar-SA" sz="4800" dirty="0">
              <a:solidFill>
                <a:schemeClr val="bg1"/>
              </a:solidFill>
            </a:endParaRPr>
          </a:p>
        </p:txBody>
      </p:sp>
      <p:sp>
        <p:nvSpPr>
          <p:cNvPr id="32" name="مربع نص 31">
            <a:extLst>
              <a:ext uri="{FF2B5EF4-FFF2-40B4-BE49-F238E27FC236}">
                <a16:creationId xmlns:a16="http://schemas.microsoft.com/office/drawing/2014/main" id="{8E1FC92F-2138-335A-2492-7084BDE2C79B}"/>
              </a:ext>
            </a:extLst>
          </p:cNvPr>
          <p:cNvSpPr txBox="1"/>
          <p:nvPr/>
        </p:nvSpPr>
        <p:spPr>
          <a:xfrm>
            <a:off x="15387531" y="13416750"/>
            <a:ext cx="11641139" cy="23698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400" b="1" dirty="0">
                <a:latin typeface="+mj-lt"/>
              </a:rPr>
              <a:t>CHORD uses AES, RSA-OAEP, HKDF, HMAC, and Merkle verification.</a:t>
            </a:r>
          </a:p>
          <a:p>
            <a:endParaRPr lang="ar-SA" sz="6000" dirty="0">
              <a:solidFill>
                <a:schemeClr val="bg1"/>
              </a:solidFill>
            </a:endParaRPr>
          </a:p>
        </p:txBody>
      </p:sp>
      <p:sp>
        <p:nvSpPr>
          <p:cNvPr id="33" name="مربع نص 32">
            <a:extLst>
              <a:ext uri="{FF2B5EF4-FFF2-40B4-BE49-F238E27FC236}">
                <a16:creationId xmlns:a16="http://schemas.microsoft.com/office/drawing/2014/main" id="{94564FDD-1DAD-BA4D-7191-1F40F940F0BB}"/>
              </a:ext>
            </a:extLst>
          </p:cNvPr>
          <p:cNvSpPr txBox="1"/>
          <p:nvPr/>
        </p:nvSpPr>
        <p:spPr>
          <a:xfrm>
            <a:off x="15219359" y="15698383"/>
            <a:ext cx="12666665" cy="206210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600" dirty="0">
                <a:latin typeface="Arial"/>
              </a:rPr>
              <a:t>AES protects data chunks, RSA-OAEP protects the seed, HKDF derives keys, and HMAC with Merkle verification checks integrity before decryption.</a:t>
            </a:r>
          </a:p>
          <a:p>
            <a:endParaRPr lang="ar-SA" sz="2000" dirty="0"/>
          </a:p>
        </p:txBody>
      </p:sp>
      <p:sp>
        <p:nvSpPr>
          <p:cNvPr id="34" name="مربع نص 33">
            <a:extLst>
              <a:ext uri="{FF2B5EF4-FFF2-40B4-BE49-F238E27FC236}">
                <a16:creationId xmlns:a16="http://schemas.microsoft.com/office/drawing/2014/main" id="{F8DE9341-86F7-3FC5-B11A-95EDBF877B39}"/>
              </a:ext>
            </a:extLst>
          </p:cNvPr>
          <p:cNvSpPr txBox="1"/>
          <p:nvPr/>
        </p:nvSpPr>
        <p:spPr>
          <a:xfrm>
            <a:off x="1162930" y="16821991"/>
            <a:ext cx="13237282" cy="236988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600" dirty="0">
                <a:latin typeface="Arial"/>
              </a:rPr>
              <a:t>This thesis focuses on protecting cloud objects before they are accepted and decrypted, especially when storage may return modified data or manipulated metadata.</a:t>
            </a:r>
          </a:p>
          <a:p>
            <a:endParaRPr lang="ar-SA" sz="4000" dirty="0"/>
          </a:p>
        </p:txBody>
      </p:sp>
      <p:sp>
        <p:nvSpPr>
          <p:cNvPr id="35" name="مخطط انسيابي: معالجة متعاقبة 34">
            <a:extLst>
              <a:ext uri="{FF2B5EF4-FFF2-40B4-BE49-F238E27FC236}">
                <a16:creationId xmlns:a16="http://schemas.microsoft.com/office/drawing/2014/main" id="{A09CE9BD-2FF4-428C-979D-62270946012B}"/>
              </a:ext>
            </a:extLst>
          </p:cNvPr>
          <p:cNvSpPr/>
          <p:nvPr/>
        </p:nvSpPr>
        <p:spPr>
          <a:xfrm>
            <a:off x="914399" y="26999566"/>
            <a:ext cx="13000383" cy="11790927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effectLst>
            <a:glow rad="1079500">
              <a:schemeClr val="accent1">
                <a:alpha val="40000"/>
              </a:schemeClr>
            </a:glow>
            <a:outerShdw blurRad="635000" dist="50800" dir="5400000" sx="102000" sy="102000" algn="ctr" rotWithShape="0">
              <a:srgbClr val="000000">
                <a:alpha val="8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36" name="مخطط انسيابي: معالجة متعاقبة 35">
            <a:extLst>
              <a:ext uri="{FF2B5EF4-FFF2-40B4-BE49-F238E27FC236}">
                <a16:creationId xmlns:a16="http://schemas.microsoft.com/office/drawing/2014/main" id="{1F98CC71-737A-65A4-DFC8-ECAD9401871E}"/>
              </a:ext>
            </a:extLst>
          </p:cNvPr>
          <p:cNvSpPr/>
          <p:nvPr/>
        </p:nvSpPr>
        <p:spPr>
          <a:xfrm>
            <a:off x="14908764" y="27057330"/>
            <a:ext cx="13000383" cy="11790927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effectLst>
            <a:glow rad="1079500">
              <a:schemeClr val="accent1">
                <a:alpha val="40000"/>
              </a:schemeClr>
            </a:glow>
            <a:outerShdw blurRad="635000" dist="50800" dir="5400000" sx="102000" sy="102000" algn="ctr" rotWithShape="0">
              <a:srgbClr val="000000">
                <a:alpha val="8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37" name="مخطط انسيابي: رابط 36">
            <a:extLst>
              <a:ext uri="{FF2B5EF4-FFF2-40B4-BE49-F238E27FC236}">
                <a16:creationId xmlns:a16="http://schemas.microsoft.com/office/drawing/2014/main" id="{F02C1BF8-3850-6903-FDC1-FEE1BA4F23DC}"/>
              </a:ext>
            </a:extLst>
          </p:cNvPr>
          <p:cNvSpPr/>
          <p:nvPr/>
        </p:nvSpPr>
        <p:spPr>
          <a:xfrm>
            <a:off x="15387531" y="18407040"/>
            <a:ext cx="1828800" cy="1828800"/>
          </a:xfrm>
          <a:prstGeom prst="flowChartConnector">
            <a:avLst/>
          </a:prstGeom>
          <a:noFill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 dirty="0">
              <a:solidFill>
                <a:schemeClr val="bg1"/>
              </a:solidFill>
            </a:endParaRPr>
          </a:p>
        </p:txBody>
      </p:sp>
      <p:sp>
        <p:nvSpPr>
          <p:cNvPr id="40" name="مخطط انسيابي: رابط 39">
            <a:extLst>
              <a:ext uri="{FF2B5EF4-FFF2-40B4-BE49-F238E27FC236}">
                <a16:creationId xmlns:a16="http://schemas.microsoft.com/office/drawing/2014/main" id="{46E4086F-756C-F38D-AD11-7F4A26E6BA90}"/>
              </a:ext>
            </a:extLst>
          </p:cNvPr>
          <p:cNvSpPr/>
          <p:nvPr/>
        </p:nvSpPr>
        <p:spPr>
          <a:xfrm>
            <a:off x="17678503" y="18407040"/>
            <a:ext cx="1828800" cy="1828800"/>
          </a:xfrm>
          <a:prstGeom prst="flowChartConnector">
            <a:avLst/>
          </a:prstGeom>
          <a:noFill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en-US" sz="16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41" name="مخطط انسيابي: رابط 40">
            <a:extLst>
              <a:ext uri="{FF2B5EF4-FFF2-40B4-BE49-F238E27FC236}">
                <a16:creationId xmlns:a16="http://schemas.microsoft.com/office/drawing/2014/main" id="{C2D52BA4-122E-D483-8EEB-0B949109E215}"/>
              </a:ext>
            </a:extLst>
          </p:cNvPr>
          <p:cNvSpPr/>
          <p:nvPr/>
        </p:nvSpPr>
        <p:spPr>
          <a:xfrm>
            <a:off x="20077560" y="18407040"/>
            <a:ext cx="1828800" cy="1828800"/>
          </a:xfrm>
          <a:prstGeom prst="flowChartConnector">
            <a:avLst/>
          </a:prstGeom>
          <a:noFill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 sz="1600" dirty="0"/>
          </a:p>
        </p:txBody>
      </p:sp>
      <p:sp>
        <p:nvSpPr>
          <p:cNvPr id="42" name="مخطط انسيابي: رابط 41">
            <a:extLst>
              <a:ext uri="{FF2B5EF4-FFF2-40B4-BE49-F238E27FC236}">
                <a16:creationId xmlns:a16="http://schemas.microsoft.com/office/drawing/2014/main" id="{17530F67-B7C3-B503-9033-1AEC7897FE54}"/>
              </a:ext>
            </a:extLst>
          </p:cNvPr>
          <p:cNvSpPr/>
          <p:nvPr/>
        </p:nvSpPr>
        <p:spPr>
          <a:xfrm>
            <a:off x="22476617" y="18401600"/>
            <a:ext cx="1828800" cy="1828800"/>
          </a:xfrm>
          <a:prstGeom prst="flowChartConnector">
            <a:avLst/>
          </a:prstGeom>
          <a:noFill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 sz="1400" dirty="0"/>
          </a:p>
        </p:txBody>
      </p:sp>
      <p:sp>
        <p:nvSpPr>
          <p:cNvPr id="43" name="مخطط انسيابي: رابط 42">
            <a:extLst>
              <a:ext uri="{FF2B5EF4-FFF2-40B4-BE49-F238E27FC236}">
                <a16:creationId xmlns:a16="http://schemas.microsoft.com/office/drawing/2014/main" id="{0D11BFB6-AA44-00AA-3E6F-17941946A17C}"/>
              </a:ext>
            </a:extLst>
          </p:cNvPr>
          <p:cNvSpPr/>
          <p:nvPr/>
        </p:nvSpPr>
        <p:spPr>
          <a:xfrm>
            <a:off x="24875674" y="18401600"/>
            <a:ext cx="1828800" cy="1828800"/>
          </a:xfrm>
          <a:prstGeom prst="flowChartConnector">
            <a:avLst/>
          </a:prstGeom>
          <a:noFill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 sz="8000" dirty="0"/>
          </a:p>
        </p:txBody>
      </p:sp>
      <p:sp>
        <p:nvSpPr>
          <p:cNvPr id="47" name="مربع نص 46">
            <a:extLst>
              <a:ext uri="{FF2B5EF4-FFF2-40B4-BE49-F238E27FC236}">
                <a16:creationId xmlns:a16="http://schemas.microsoft.com/office/drawing/2014/main" id="{B4860DD2-8910-AB07-95EE-87BE85590234}"/>
              </a:ext>
            </a:extLst>
          </p:cNvPr>
          <p:cNvSpPr txBox="1"/>
          <p:nvPr/>
        </p:nvSpPr>
        <p:spPr>
          <a:xfrm>
            <a:off x="22581392" y="18994254"/>
            <a:ext cx="161925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600" b="1" dirty="0">
                <a:solidFill>
                  <a:srgbClr val="112544"/>
                </a:solidFill>
                <a:latin typeface="Arial"/>
              </a:rPr>
              <a:t>HMAC +
Merkle Check</a:t>
            </a:r>
          </a:p>
        </p:txBody>
      </p:sp>
      <p:sp>
        <p:nvSpPr>
          <p:cNvPr id="50" name="مربع نص 49">
            <a:extLst>
              <a:ext uri="{FF2B5EF4-FFF2-40B4-BE49-F238E27FC236}">
                <a16:creationId xmlns:a16="http://schemas.microsoft.com/office/drawing/2014/main" id="{A053CC78-06F9-A283-C7A4-A108AEB9D9FE}"/>
              </a:ext>
            </a:extLst>
          </p:cNvPr>
          <p:cNvSpPr txBox="1"/>
          <p:nvPr/>
        </p:nvSpPr>
        <p:spPr>
          <a:xfrm>
            <a:off x="17783278" y="19146723"/>
            <a:ext cx="161925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b="1" dirty="0">
                <a:solidFill>
                  <a:srgbClr val="112544"/>
                </a:solidFill>
                <a:latin typeface="Arial"/>
              </a:rPr>
              <a:t>Chunking</a:t>
            </a:r>
          </a:p>
        </p:txBody>
      </p:sp>
      <p:sp>
        <p:nvSpPr>
          <p:cNvPr id="51" name="مربع نص 50">
            <a:extLst>
              <a:ext uri="{FF2B5EF4-FFF2-40B4-BE49-F238E27FC236}">
                <a16:creationId xmlns:a16="http://schemas.microsoft.com/office/drawing/2014/main" id="{DEFCDE59-C332-EC93-3A96-8D55B255606B}"/>
              </a:ext>
            </a:extLst>
          </p:cNvPr>
          <p:cNvSpPr txBox="1"/>
          <p:nvPr/>
        </p:nvSpPr>
        <p:spPr>
          <a:xfrm>
            <a:off x="15492306" y="18994255"/>
            <a:ext cx="161925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b="1" dirty="0">
                <a:solidFill>
                  <a:srgbClr val="112544"/>
                </a:solidFill>
                <a:latin typeface="Arial"/>
              </a:rPr>
              <a:t>Cloud
Object</a:t>
            </a:r>
          </a:p>
        </p:txBody>
      </p:sp>
      <p:sp>
        <p:nvSpPr>
          <p:cNvPr id="52" name="مربع نص 51">
            <a:extLst>
              <a:ext uri="{FF2B5EF4-FFF2-40B4-BE49-F238E27FC236}">
                <a16:creationId xmlns:a16="http://schemas.microsoft.com/office/drawing/2014/main" id="{9D56E4D3-490C-6F8B-2C9F-523075E329B8}"/>
              </a:ext>
            </a:extLst>
          </p:cNvPr>
          <p:cNvSpPr txBox="1"/>
          <p:nvPr/>
        </p:nvSpPr>
        <p:spPr>
          <a:xfrm>
            <a:off x="20182335" y="18994256"/>
            <a:ext cx="161925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b="1" dirty="0">
                <a:solidFill>
                  <a:srgbClr val="112544"/>
                </a:solidFill>
                <a:latin typeface="Arial"/>
              </a:rPr>
              <a:t>AES
Encryption</a:t>
            </a:r>
          </a:p>
        </p:txBody>
      </p:sp>
      <p:sp>
        <p:nvSpPr>
          <p:cNvPr id="53" name="مربع نص 52">
            <a:extLst>
              <a:ext uri="{FF2B5EF4-FFF2-40B4-BE49-F238E27FC236}">
                <a16:creationId xmlns:a16="http://schemas.microsoft.com/office/drawing/2014/main" id="{0FF0BEA7-E431-FEF3-66FF-F737F397D18D}"/>
              </a:ext>
            </a:extLst>
          </p:cNvPr>
          <p:cNvSpPr txBox="1"/>
          <p:nvPr/>
        </p:nvSpPr>
        <p:spPr>
          <a:xfrm>
            <a:off x="24980449" y="18900501"/>
            <a:ext cx="161925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400" b="1" dirty="0">
                <a:solidFill>
                  <a:srgbClr val="112544"/>
                </a:solidFill>
                <a:latin typeface="Arial"/>
              </a:rPr>
              <a:t>
PaSecureckage</a:t>
            </a:r>
          </a:p>
        </p:txBody>
      </p:sp>
      <p:sp>
        <p:nvSpPr>
          <p:cNvPr id="54" name="مربع نص 53">
            <a:extLst>
              <a:ext uri="{FF2B5EF4-FFF2-40B4-BE49-F238E27FC236}">
                <a16:creationId xmlns:a16="http://schemas.microsoft.com/office/drawing/2014/main" id="{5935D44B-E93B-331A-04DC-9A8B06FA95F8}"/>
              </a:ext>
            </a:extLst>
          </p:cNvPr>
          <p:cNvSpPr txBox="1"/>
          <p:nvPr/>
        </p:nvSpPr>
        <p:spPr>
          <a:xfrm>
            <a:off x="16812937" y="25546901"/>
            <a:ext cx="5665270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6000" b="1" dirty="0">
                <a:solidFill>
                  <a:srgbClr val="112544"/>
                </a:solidFill>
                <a:latin typeface="Arial"/>
              </a:rPr>
              <a:t>Conclusion</a:t>
            </a:r>
            <a:endParaRPr lang="ar-SA" sz="6000" dirty="0"/>
          </a:p>
        </p:txBody>
      </p:sp>
      <p:sp>
        <p:nvSpPr>
          <p:cNvPr id="55" name="مربع نص 54">
            <a:extLst>
              <a:ext uri="{FF2B5EF4-FFF2-40B4-BE49-F238E27FC236}">
                <a16:creationId xmlns:a16="http://schemas.microsoft.com/office/drawing/2014/main" id="{B64E743E-6A98-5D45-B4B2-F7578CD64128}"/>
              </a:ext>
            </a:extLst>
          </p:cNvPr>
          <p:cNvSpPr txBox="1"/>
          <p:nvPr/>
        </p:nvSpPr>
        <p:spPr>
          <a:xfrm>
            <a:off x="2743200" y="25547062"/>
            <a:ext cx="5665270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6000" b="1" dirty="0">
                <a:solidFill>
                  <a:srgbClr val="112544"/>
                </a:solidFill>
                <a:latin typeface="Arial"/>
              </a:rPr>
              <a:t>Experiments</a:t>
            </a:r>
          </a:p>
          <a:p>
            <a:endParaRPr lang="ar-SA" sz="6000" dirty="0"/>
          </a:p>
        </p:txBody>
      </p:sp>
      <p:sp>
        <p:nvSpPr>
          <p:cNvPr id="56" name="مربع نص 55">
            <a:extLst>
              <a:ext uri="{FF2B5EF4-FFF2-40B4-BE49-F238E27FC236}">
                <a16:creationId xmlns:a16="http://schemas.microsoft.com/office/drawing/2014/main" id="{05D2D527-6261-1B5B-D121-17B6318517DD}"/>
              </a:ext>
            </a:extLst>
          </p:cNvPr>
          <p:cNvSpPr txBox="1"/>
          <p:nvPr/>
        </p:nvSpPr>
        <p:spPr>
          <a:xfrm>
            <a:off x="15526876" y="27817867"/>
            <a:ext cx="11783564" cy="261610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000" b="1" dirty="0">
                <a:latin typeface="+mj-lt"/>
              </a:rPr>
              <a:t>CHORD achieved strong verification results by rejecting tampered cloud objects before plaintext release.</a:t>
            </a:r>
          </a:p>
          <a:p>
            <a:endParaRPr lang="ar-SA" sz="4400" dirty="0">
              <a:solidFill>
                <a:schemeClr val="bg1"/>
              </a:solidFill>
            </a:endParaRPr>
          </a:p>
        </p:txBody>
      </p:sp>
      <p:sp>
        <p:nvSpPr>
          <p:cNvPr id="57" name="مربع نص 56">
            <a:extLst>
              <a:ext uri="{FF2B5EF4-FFF2-40B4-BE49-F238E27FC236}">
                <a16:creationId xmlns:a16="http://schemas.microsoft.com/office/drawing/2014/main" id="{37A47F74-EE4C-9093-B7E2-E4B76D074D7A}"/>
              </a:ext>
            </a:extLst>
          </p:cNvPr>
          <p:cNvSpPr txBox="1"/>
          <p:nvPr/>
        </p:nvSpPr>
        <p:spPr>
          <a:xfrm>
            <a:off x="1415601" y="27733596"/>
            <a:ext cx="11783564" cy="286232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400" b="1" dirty="0">
                <a:latin typeface="+mj-lt"/>
              </a:rPr>
              <a:t>The model was tested using large files and measured by encryption time, decryption time, verification cost, and storage overhead.</a:t>
            </a:r>
          </a:p>
          <a:p>
            <a:endParaRPr lang="ar-SA" sz="4800" dirty="0">
              <a:solidFill>
                <a:schemeClr val="bg1"/>
              </a:solidFill>
            </a:endParaRPr>
          </a:p>
        </p:txBody>
      </p:sp>
      <p:sp>
        <p:nvSpPr>
          <p:cNvPr id="58" name="مربع نص 57">
            <a:extLst>
              <a:ext uri="{FF2B5EF4-FFF2-40B4-BE49-F238E27FC236}">
                <a16:creationId xmlns:a16="http://schemas.microsoft.com/office/drawing/2014/main" id="{CC68AD7A-2394-DD63-3EDE-5997BF025634}"/>
              </a:ext>
            </a:extLst>
          </p:cNvPr>
          <p:cNvSpPr txBox="1"/>
          <p:nvPr/>
        </p:nvSpPr>
        <p:spPr>
          <a:xfrm>
            <a:off x="1162931" y="30433968"/>
            <a:ext cx="12751852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dirty="0">
                <a:latin typeface="Arial"/>
              </a:rPr>
              <a:t>The evaluation also included comparative analysis of CHORD against baseline schemes, including Blowfish, 3DES, AES-RSA, and AES-ECC in terms of security and efficiency using measurements such as, encryption/decryption throughput, security robustness (accuracy, precision, recall, F1-score), and reliability (MSE, MAE).</a:t>
            </a:r>
          </a:p>
        </p:txBody>
      </p:sp>
      <p:sp>
        <p:nvSpPr>
          <p:cNvPr id="59" name="مخطط انسيابي: معالجة متعاقبة 58">
            <a:extLst>
              <a:ext uri="{FF2B5EF4-FFF2-40B4-BE49-F238E27FC236}">
                <a16:creationId xmlns:a16="http://schemas.microsoft.com/office/drawing/2014/main" id="{70503CA1-FC86-F6DE-46DD-A3C207E8CEC6}"/>
              </a:ext>
            </a:extLst>
          </p:cNvPr>
          <p:cNvSpPr/>
          <p:nvPr/>
        </p:nvSpPr>
        <p:spPr>
          <a:xfrm>
            <a:off x="1411266" y="32564439"/>
            <a:ext cx="2546207" cy="1408959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800" b="1" dirty="0">
                <a:solidFill>
                  <a:srgbClr val="112544"/>
                </a:solidFill>
                <a:latin typeface="Arial"/>
              </a:rPr>
              <a:t>Encryption
Time</a:t>
            </a:r>
          </a:p>
          <a:p>
            <a:pPr algn="ctr"/>
            <a:endParaRPr lang="ar-SA" dirty="0"/>
          </a:p>
        </p:txBody>
      </p:sp>
      <p:sp>
        <p:nvSpPr>
          <p:cNvPr id="64" name="مخطط انسيابي: معالجة متعاقبة 63">
            <a:extLst>
              <a:ext uri="{FF2B5EF4-FFF2-40B4-BE49-F238E27FC236}">
                <a16:creationId xmlns:a16="http://schemas.microsoft.com/office/drawing/2014/main" id="{8A3CBEB6-6A78-0905-A19E-76BE9BB7D0A6}"/>
              </a:ext>
            </a:extLst>
          </p:cNvPr>
          <p:cNvSpPr/>
          <p:nvPr/>
        </p:nvSpPr>
        <p:spPr>
          <a:xfrm>
            <a:off x="4551261" y="32564439"/>
            <a:ext cx="2546207" cy="1408959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800" b="1" dirty="0">
                <a:solidFill>
                  <a:srgbClr val="112544"/>
                </a:solidFill>
                <a:latin typeface="Arial"/>
              </a:rPr>
              <a:t>Decryption
Time</a:t>
            </a:r>
          </a:p>
        </p:txBody>
      </p:sp>
      <p:sp>
        <p:nvSpPr>
          <p:cNvPr id="65" name="مخطط انسيابي: معالجة متعاقبة 64">
            <a:extLst>
              <a:ext uri="{FF2B5EF4-FFF2-40B4-BE49-F238E27FC236}">
                <a16:creationId xmlns:a16="http://schemas.microsoft.com/office/drawing/2014/main" id="{F3B030F6-4EF8-DE2C-CF77-1ACFA2C1E386}"/>
              </a:ext>
            </a:extLst>
          </p:cNvPr>
          <p:cNvSpPr/>
          <p:nvPr/>
        </p:nvSpPr>
        <p:spPr>
          <a:xfrm>
            <a:off x="7691256" y="32605241"/>
            <a:ext cx="2546207" cy="1408959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800" b="1" dirty="0">
                <a:solidFill>
                  <a:srgbClr val="112544"/>
                </a:solidFill>
                <a:latin typeface="Arial"/>
              </a:rPr>
              <a:t>Verification
Cost</a:t>
            </a:r>
          </a:p>
          <a:p>
            <a:pPr algn="ctr"/>
            <a:endParaRPr lang="ar-SA" dirty="0"/>
          </a:p>
        </p:txBody>
      </p:sp>
      <p:sp>
        <p:nvSpPr>
          <p:cNvPr id="66" name="مخطط انسيابي: معالجة متعاقبة 65">
            <a:extLst>
              <a:ext uri="{FF2B5EF4-FFF2-40B4-BE49-F238E27FC236}">
                <a16:creationId xmlns:a16="http://schemas.microsoft.com/office/drawing/2014/main" id="{D72E3E1F-A2FF-4110-39E6-69CEEAC0B705}"/>
              </a:ext>
            </a:extLst>
          </p:cNvPr>
          <p:cNvSpPr/>
          <p:nvPr/>
        </p:nvSpPr>
        <p:spPr>
          <a:xfrm>
            <a:off x="10831251" y="32564439"/>
            <a:ext cx="2546207" cy="1408959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800" b="1" dirty="0">
                <a:solidFill>
                  <a:srgbClr val="112544"/>
                </a:solidFill>
                <a:latin typeface="Arial"/>
              </a:rPr>
              <a:t>Storage
Overhead</a:t>
            </a:r>
          </a:p>
        </p:txBody>
      </p:sp>
      <p:sp>
        <p:nvSpPr>
          <p:cNvPr id="67" name="مربع نص 66">
            <a:extLst>
              <a:ext uri="{FF2B5EF4-FFF2-40B4-BE49-F238E27FC236}">
                <a16:creationId xmlns:a16="http://schemas.microsoft.com/office/drawing/2014/main" id="{7E3993DA-29C1-5745-01E2-A154BFB38F6D}"/>
              </a:ext>
            </a:extLst>
          </p:cNvPr>
          <p:cNvSpPr txBox="1"/>
          <p:nvPr/>
        </p:nvSpPr>
        <p:spPr>
          <a:xfrm>
            <a:off x="1162930" y="35012671"/>
            <a:ext cx="2794543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112544"/>
                </a:solidFill>
                <a:latin typeface="Arial"/>
              </a:rPr>
              <a:t>Compared models:</a:t>
            </a:r>
          </a:p>
        </p:txBody>
      </p:sp>
      <p:sp>
        <p:nvSpPr>
          <p:cNvPr id="68" name="مخطط انسيابي: معالجة متعاقبة 67">
            <a:extLst>
              <a:ext uri="{FF2B5EF4-FFF2-40B4-BE49-F238E27FC236}">
                <a16:creationId xmlns:a16="http://schemas.microsoft.com/office/drawing/2014/main" id="{EDB151BB-93FD-8DFB-9F33-6C822D891D49}"/>
              </a:ext>
            </a:extLst>
          </p:cNvPr>
          <p:cNvSpPr/>
          <p:nvPr/>
        </p:nvSpPr>
        <p:spPr>
          <a:xfrm>
            <a:off x="3678351" y="34268507"/>
            <a:ext cx="1745820" cy="1408959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lnSpc>
                <a:spcPct val="200000"/>
              </a:lnSpc>
            </a:pPr>
            <a:r>
              <a:rPr lang="en-US" sz="2400" b="1" dirty="0">
                <a:solidFill>
                  <a:srgbClr val="18766E"/>
                </a:solidFill>
                <a:latin typeface="Arial"/>
              </a:rPr>
              <a:t>Blowfish</a:t>
            </a:r>
          </a:p>
          <a:p>
            <a:pPr algn="ctr"/>
            <a:endParaRPr lang="ar-SA" dirty="0"/>
          </a:p>
        </p:txBody>
      </p:sp>
      <p:sp>
        <p:nvSpPr>
          <p:cNvPr id="72" name="مخطط انسيابي: معالجة متعاقبة 71">
            <a:extLst>
              <a:ext uri="{FF2B5EF4-FFF2-40B4-BE49-F238E27FC236}">
                <a16:creationId xmlns:a16="http://schemas.microsoft.com/office/drawing/2014/main" id="{A25B6AF1-5048-7B55-FB69-508400778D82}"/>
              </a:ext>
            </a:extLst>
          </p:cNvPr>
          <p:cNvSpPr/>
          <p:nvPr/>
        </p:nvSpPr>
        <p:spPr>
          <a:xfrm>
            <a:off x="8310167" y="34308191"/>
            <a:ext cx="1745820" cy="1408959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solidFill>
                  <a:srgbClr val="18766E"/>
                </a:solidFill>
                <a:latin typeface="Arial"/>
              </a:rPr>
              <a:t>AES-RSA</a:t>
            </a:r>
          </a:p>
          <a:p>
            <a:pPr algn="ctr"/>
            <a:endParaRPr lang="ar-SA" dirty="0"/>
          </a:p>
        </p:txBody>
      </p:sp>
      <p:sp>
        <p:nvSpPr>
          <p:cNvPr id="73" name="مخطط انسيابي: معالجة متعاقبة 72">
            <a:extLst>
              <a:ext uri="{FF2B5EF4-FFF2-40B4-BE49-F238E27FC236}">
                <a16:creationId xmlns:a16="http://schemas.microsoft.com/office/drawing/2014/main" id="{77D56D96-D63E-4F48-908E-ACE98D43BB57}"/>
              </a:ext>
            </a:extLst>
          </p:cNvPr>
          <p:cNvSpPr/>
          <p:nvPr/>
        </p:nvSpPr>
        <p:spPr>
          <a:xfrm>
            <a:off x="5994259" y="34288908"/>
            <a:ext cx="1745820" cy="1408959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solidFill>
                  <a:srgbClr val="18766E"/>
                </a:solidFill>
                <a:latin typeface="Arial"/>
              </a:rPr>
              <a:t>3DES</a:t>
            </a:r>
            <a:endParaRPr lang="ar-SA" dirty="0"/>
          </a:p>
        </p:txBody>
      </p:sp>
      <p:sp>
        <p:nvSpPr>
          <p:cNvPr id="75" name="مخطط انسيابي: معالجة متعاقبة 74">
            <a:extLst>
              <a:ext uri="{FF2B5EF4-FFF2-40B4-BE49-F238E27FC236}">
                <a16:creationId xmlns:a16="http://schemas.microsoft.com/office/drawing/2014/main" id="{28DC318E-F3C6-6A38-9482-006C5106EEB0}"/>
              </a:ext>
            </a:extLst>
          </p:cNvPr>
          <p:cNvSpPr/>
          <p:nvPr/>
        </p:nvSpPr>
        <p:spPr>
          <a:xfrm>
            <a:off x="10626075" y="34335475"/>
            <a:ext cx="1745820" cy="1408959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solidFill>
                  <a:srgbClr val="18766E"/>
                </a:solidFill>
                <a:latin typeface="Arial"/>
              </a:rPr>
              <a:t>AES-ECC</a:t>
            </a:r>
            <a:endParaRPr lang="ar-SA" dirty="0"/>
          </a:p>
        </p:txBody>
      </p:sp>
      <p:sp>
        <p:nvSpPr>
          <p:cNvPr id="76" name="مخطط انسيابي: معالجة متعاقبة 75">
            <a:extLst>
              <a:ext uri="{FF2B5EF4-FFF2-40B4-BE49-F238E27FC236}">
                <a16:creationId xmlns:a16="http://schemas.microsoft.com/office/drawing/2014/main" id="{87FFB04A-A96E-145C-B2CF-CD2B902183AB}"/>
              </a:ext>
            </a:extLst>
          </p:cNvPr>
          <p:cNvSpPr/>
          <p:nvPr/>
        </p:nvSpPr>
        <p:spPr>
          <a:xfrm>
            <a:off x="14411649" y="26999565"/>
            <a:ext cx="437322" cy="11790927"/>
          </a:xfrm>
          <a:prstGeom prst="flowChartAlternateProcess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77" name="مخطط انسيابي: معالجة متعاقبة 76">
            <a:extLst>
              <a:ext uri="{FF2B5EF4-FFF2-40B4-BE49-F238E27FC236}">
                <a16:creationId xmlns:a16="http://schemas.microsoft.com/office/drawing/2014/main" id="{C8776976-876B-AB46-8BD6-93D423BCC19D}"/>
              </a:ext>
            </a:extLst>
          </p:cNvPr>
          <p:cNvSpPr/>
          <p:nvPr/>
        </p:nvSpPr>
        <p:spPr>
          <a:xfrm>
            <a:off x="406945" y="27057330"/>
            <a:ext cx="437322" cy="11790927"/>
          </a:xfrm>
          <a:prstGeom prst="flowChartAlternateProcess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78" name="مخطط انسيابي: معالجة متعاقبة 77">
            <a:extLst>
              <a:ext uri="{FF2B5EF4-FFF2-40B4-BE49-F238E27FC236}">
                <a16:creationId xmlns:a16="http://schemas.microsoft.com/office/drawing/2014/main" id="{E9FA203E-C86B-EE16-8C76-BC280E3E1293}"/>
              </a:ext>
            </a:extLst>
          </p:cNvPr>
          <p:cNvSpPr/>
          <p:nvPr/>
        </p:nvSpPr>
        <p:spPr>
          <a:xfrm>
            <a:off x="15267315" y="21052112"/>
            <a:ext cx="12091081" cy="1408959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800" b="1" dirty="0">
                <a:solidFill>
                  <a:srgbClr val="112544"/>
                </a:solidFill>
                <a:latin typeface="Arial"/>
              </a:rPr>
              <a:t>Verify-before-decrypt: the system checks the header, Merkle commitment, and chunk tags before releasing plaintext.</a:t>
            </a:r>
          </a:p>
          <a:p>
            <a:pPr algn="ctr"/>
            <a:endParaRPr lang="en-US" sz="2800" b="1" dirty="0">
              <a:solidFill>
                <a:srgbClr val="112544"/>
              </a:solidFill>
              <a:latin typeface="Arial"/>
            </a:endParaRPr>
          </a:p>
        </p:txBody>
      </p:sp>
      <p:sp>
        <p:nvSpPr>
          <p:cNvPr id="79" name="مخطط انسيابي: معالجة متعاقبة 78">
            <a:extLst>
              <a:ext uri="{FF2B5EF4-FFF2-40B4-BE49-F238E27FC236}">
                <a16:creationId xmlns:a16="http://schemas.microsoft.com/office/drawing/2014/main" id="{4E98425A-4994-E9A2-6253-0F963211695D}"/>
              </a:ext>
            </a:extLst>
          </p:cNvPr>
          <p:cNvSpPr/>
          <p:nvPr/>
        </p:nvSpPr>
        <p:spPr>
          <a:xfrm>
            <a:off x="15422376" y="32130493"/>
            <a:ext cx="2560284" cy="2803422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112544"/>
                </a:solidFill>
                <a:latin typeface="Arial"/>
              </a:rPr>
              <a:t>100%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solidFill>
                <a:srgbClr val="112544"/>
              </a:solidFill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</a:rPr>
              <a:t>Tamper detection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solidFill>
                <a:srgbClr val="18766E"/>
              </a:solidFill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5E6B78"/>
                </a:solidFill>
                <a:latin typeface="Arial"/>
              </a:rPr>
              <a:t>controlled attacks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solidFill>
                <a:srgbClr val="112544"/>
              </a:solidFill>
              <a:latin typeface="Arial"/>
            </a:endParaRPr>
          </a:p>
        </p:txBody>
      </p:sp>
      <p:sp>
        <p:nvSpPr>
          <p:cNvPr id="80" name="مربع نص 79">
            <a:extLst>
              <a:ext uri="{FF2B5EF4-FFF2-40B4-BE49-F238E27FC236}">
                <a16:creationId xmlns:a16="http://schemas.microsoft.com/office/drawing/2014/main" id="{DF07FB3E-90EF-3D71-A67B-9E57CFD686DC}"/>
              </a:ext>
            </a:extLst>
          </p:cNvPr>
          <p:cNvSpPr txBox="1"/>
          <p:nvPr/>
        </p:nvSpPr>
        <p:spPr>
          <a:xfrm>
            <a:off x="15245106" y="30433968"/>
            <a:ext cx="11501794" cy="13849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dirty="0">
                <a:latin typeface="Arial"/>
              </a:rPr>
              <a:t>The results show full tamper detection, very low storage overhead, competitive throughput, and high security robustness in comparison with the baseline models.</a:t>
            </a:r>
          </a:p>
        </p:txBody>
      </p:sp>
      <p:sp>
        <p:nvSpPr>
          <p:cNvPr id="84" name="مخطط انسيابي: معالجة متعاقبة 83">
            <a:extLst>
              <a:ext uri="{FF2B5EF4-FFF2-40B4-BE49-F238E27FC236}">
                <a16:creationId xmlns:a16="http://schemas.microsoft.com/office/drawing/2014/main" id="{CF0E1946-A895-BDF5-2BA8-C982A575B64F}"/>
              </a:ext>
            </a:extLst>
          </p:cNvPr>
          <p:cNvSpPr/>
          <p:nvPr/>
        </p:nvSpPr>
        <p:spPr>
          <a:xfrm>
            <a:off x="18532072" y="32102566"/>
            <a:ext cx="2560284" cy="2803422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112544"/>
                </a:solidFill>
                <a:latin typeface="Arial"/>
              </a:rPr>
              <a:t>99.62%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solidFill>
                <a:srgbClr val="112544"/>
              </a:solidFill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</a:rPr>
              <a:t>Security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solidFill>
                <a:srgbClr val="112544"/>
              </a:solidFill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5E6B78"/>
                </a:solidFill>
                <a:latin typeface="Arial"/>
              </a:rPr>
              <a:t>accuracy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solidFill>
                <a:srgbClr val="112544"/>
              </a:solidFill>
              <a:latin typeface="Arial"/>
            </a:endParaRPr>
          </a:p>
        </p:txBody>
      </p:sp>
      <p:sp>
        <p:nvSpPr>
          <p:cNvPr id="85" name="مخطط انسيابي: معالجة متعاقبة 84">
            <a:extLst>
              <a:ext uri="{FF2B5EF4-FFF2-40B4-BE49-F238E27FC236}">
                <a16:creationId xmlns:a16="http://schemas.microsoft.com/office/drawing/2014/main" id="{3911E7F4-6CEC-42C6-E150-8F679FC4681F}"/>
              </a:ext>
            </a:extLst>
          </p:cNvPr>
          <p:cNvSpPr/>
          <p:nvPr/>
        </p:nvSpPr>
        <p:spPr>
          <a:xfrm>
            <a:off x="21850518" y="32102566"/>
            <a:ext cx="2560284" cy="2803422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112544"/>
                </a:solidFill>
                <a:latin typeface="Arial"/>
              </a:rPr>
              <a:t>99.56%</a:t>
            </a:r>
          </a:p>
          <a:p>
            <a:pPr algn="ctr">
              <a:lnSpc>
                <a:spcPct val="150000"/>
              </a:lnSpc>
            </a:pPr>
            <a:endParaRPr lang="ar-SA" sz="2000" b="1" dirty="0">
              <a:solidFill>
                <a:srgbClr val="112544"/>
              </a:solidFill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</a:rPr>
              <a:t>F1-score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solidFill>
                <a:srgbClr val="18766E"/>
              </a:solidFill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5E6B78"/>
                </a:solidFill>
                <a:latin typeface="Arial"/>
              </a:rPr>
              <a:t>robustness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solidFill>
                <a:srgbClr val="112544"/>
              </a:solidFill>
              <a:latin typeface="Arial"/>
            </a:endParaRPr>
          </a:p>
        </p:txBody>
      </p:sp>
      <p:sp>
        <p:nvSpPr>
          <p:cNvPr id="86" name="مخطط انسيابي: معالجة متعاقبة 85">
            <a:extLst>
              <a:ext uri="{FF2B5EF4-FFF2-40B4-BE49-F238E27FC236}">
                <a16:creationId xmlns:a16="http://schemas.microsoft.com/office/drawing/2014/main" id="{34D513DF-BBDF-AFBF-D837-C43C63B1E8FB}"/>
              </a:ext>
            </a:extLst>
          </p:cNvPr>
          <p:cNvSpPr/>
          <p:nvPr/>
        </p:nvSpPr>
        <p:spPr>
          <a:xfrm>
            <a:off x="24960214" y="32102566"/>
            <a:ext cx="2560284" cy="2803422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112544"/>
                </a:solidFill>
                <a:latin typeface="Arial"/>
              </a:rPr>
              <a:t>0.0016-0.0062%</a:t>
            </a:r>
          </a:p>
          <a:p>
            <a:pPr algn="ctr">
              <a:lnSpc>
                <a:spcPct val="150000"/>
              </a:lnSpc>
            </a:pPr>
            <a:endParaRPr lang="ar-SA" sz="2000" b="1" dirty="0">
              <a:solidFill>
                <a:srgbClr val="112544"/>
              </a:solidFill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</a:rPr>
              <a:t>Storage overhead</a:t>
            </a:r>
          </a:p>
          <a:p>
            <a:pPr algn="ctr">
              <a:lnSpc>
                <a:spcPct val="150000"/>
              </a:lnSpc>
            </a:pPr>
            <a:endParaRPr lang="en-US" b="1" dirty="0">
              <a:solidFill>
                <a:srgbClr val="112544"/>
              </a:solidFill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5E6B78"/>
                </a:solidFill>
                <a:latin typeface="Arial"/>
              </a:rPr>
              <a:t>across file bins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solidFill>
                <a:srgbClr val="112544"/>
              </a:solidFill>
              <a:latin typeface="Arial"/>
            </a:endParaRPr>
          </a:p>
        </p:txBody>
      </p:sp>
      <p:sp>
        <p:nvSpPr>
          <p:cNvPr id="87" name="علامة الطرح 86">
            <a:extLst>
              <a:ext uri="{FF2B5EF4-FFF2-40B4-BE49-F238E27FC236}">
                <a16:creationId xmlns:a16="http://schemas.microsoft.com/office/drawing/2014/main" id="{6EF80C89-DDC5-E3B6-DBBF-46856B88B1C8}"/>
              </a:ext>
            </a:extLst>
          </p:cNvPr>
          <p:cNvSpPr/>
          <p:nvPr/>
        </p:nvSpPr>
        <p:spPr>
          <a:xfrm>
            <a:off x="-5283441" y="40353536"/>
            <a:ext cx="39367306" cy="2847102"/>
          </a:xfrm>
          <a:prstGeom prst="mathMinus">
            <a:avLst>
              <a:gd name="adj1" fmla="val 10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88" name="مربع نص 87">
            <a:extLst>
              <a:ext uri="{FF2B5EF4-FFF2-40B4-BE49-F238E27FC236}">
                <a16:creationId xmlns:a16="http://schemas.microsoft.com/office/drawing/2014/main" id="{CB9418D0-D2F1-CC11-A248-531F564F426D}"/>
              </a:ext>
            </a:extLst>
          </p:cNvPr>
          <p:cNvSpPr txBox="1"/>
          <p:nvPr/>
        </p:nvSpPr>
        <p:spPr>
          <a:xfrm>
            <a:off x="397565" y="41626467"/>
            <a:ext cx="12371895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rial"/>
              </a:rPr>
              <a:t>Graduation Projects Exhibition 2026  |  Qassim University  |  College of Computer</a:t>
            </a:r>
          </a:p>
        </p:txBody>
      </p:sp>
      <p:sp>
        <p:nvSpPr>
          <p:cNvPr id="89" name="علامة الطرح 88">
            <a:extLst>
              <a:ext uri="{FF2B5EF4-FFF2-40B4-BE49-F238E27FC236}">
                <a16:creationId xmlns:a16="http://schemas.microsoft.com/office/drawing/2014/main" id="{2AA1F35F-9936-1964-CEDD-271169D8D191}"/>
              </a:ext>
            </a:extLst>
          </p:cNvPr>
          <p:cNvSpPr/>
          <p:nvPr/>
        </p:nvSpPr>
        <p:spPr>
          <a:xfrm>
            <a:off x="17547316" y="39713785"/>
            <a:ext cx="12732670" cy="4220332"/>
          </a:xfrm>
          <a:prstGeom prst="mathMinus">
            <a:avLst>
              <a:gd name="adj1" fmla="val 62660"/>
            </a:avLst>
          </a:prstGeom>
          <a:effectLst>
            <a:glow rad="1079500">
              <a:schemeClr val="accent1">
                <a:alpha val="40000"/>
              </a:schemeClr>
            </a:glow>
            <a:outerShdw blurRad="635000" dist="50800" dir="5400000" sx="102000" sy="102000" algn="ctr" rotWithShape="0">
              <a:srgbClr val="000000">
                <a:alpha val="80000"/>
              </a:srgb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90" name="مربع نص 89">
            <a:extLst>
              <a:ext uri="{FF2B5EF4-FFF2-40B4-BE49-F238E27FC236}">
                <a16:creationId xmlns:a16="http://schemas.microsoft.com/office/drawing/2014/main" id="{8B7C88A1-A2C4-DEAF-FD64-09566301323B}"/>
              </a:ext>
            </a:extLst>
          </p:cNvPr>
          <p:cNvSpPr txBox="1"/>
          <p:nvPr/>
        </p:nvSpPr>
        <p:spPr>
          <a:xfrm>
            <a:off x="19070190" y="40818027"/>
            <a:ext cx="9665007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400" b="1" dirty="0">
                <a:solidFill>
                  <a:srgbClr val="112544"/>
                </a:solidFill>
                <a:latin typeface="Arial"/>
              </a:rPr>
              <a:t>Student: Abdulsalam Ibrahim </a:t>
            </a:r>
            <a:r>
              <a:rPr lang="en-US" sz="2400" b="1" dirty="0" err="1">
                <a:solidFill>
                  <a:srgbClr val="112544"/>
                </a:solidFill>
                <a:latin typeface="Arial"/>
              </a:rPr>
              <a:t>Almirdasi</a:t>
            </a:r>
            <a:r>
              <a:rPr lang="en-US" sz="2400" b="1" dirty="0">
                <a:solidFill>
                  <a:srgbClr val="112544"/>
                </a:solidFill>
                <a:latin typeface="Arial"/>
              </a:rPr>
              <a:t>   |   ID: 441112110   </a:t>
            </a:r>
          </a:p>
          <a:p>
            <a:pPr algn="ctr"/>
            <a:r>
              <a:rPr lang="en-US" sz="2400" b="1" dirty="0">
                <a:solidFill>
                  <a:srgbClr val="112544"/>
                </a:solidFill>
                <a:latin typeface="Arial"/>
              </a:rPr>
              <a:t>Supervisor: Mohamed Tahar Ben Othman</a:t>
            </a:r>
          </a:p>
        </p:txBody>
      </p:sp>
      <p:sp>
        <p:nvSpPr>
          <p:cNvPr id="91" name="مربع نص 90">
            <a:extLst>
              <a:ext uri="{FF2B5EF4-FFF2-40B4-BE49-F238E27FC236}">
                <a16:creationId xmlns:a16="http://schemas.microsoft.com/office/drawing/2014/main" id="{B32044DA-D70A-B266-B86E-DB35B4F7DED7}"/>
              </a:ext>
            </a:extLst>
          </p:cNvPr>
          <p:cNvSpPr txBox="1"/>
          <p:nvPr/>
        </p:nvSpPr>
        <p:spPr>
          <a:xfrm>
            <a:off x="19402528" y="42188916"/>
            <a:ext cx="9000332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dirty="0">
                <a:solidFill>
                  <a:srgbClr val="18766E"/>
                </a:solidFill>
                <a:latin typeface="Arial"/>
              </a:rPr>
              <a:t>Department: Computer Science   |   College: College of Computer   |   Qassim University</a:t>
            </a:r>
          </a:p>
        </p:txBody>
      </p:sp>
      <p:sp>
        <p:nvSpPr>
          <p:cNvPr id="17" name="مربع نص 16">
            <a:extLst>
              <a:ext uri="{FF2B5EF4-FFF2-40B4-BE49-F238E27FC236}">
                <a16:creationId xmlns:a16="http://schemas.microsoft.com/office/drawing/2014/main" id="{E6574F42-FCE7-2BEB-6BB5-6045070A7BCC}"/>
              </a:ext>
            </a:extLst>
          </p:cNvPr>
          <p:cNvSpPr txBox="1"/>
          <p:nvPr/>
        </p:nvSpPr>
        <p:spPr>
          <a:xfrm>
            <a:off x="5088904" y="4410145"/>
            <a:ext cx="19560208" cy="3046988"/>
          </a:xfrm>
          <a:prstGeom prst="rect">
            <a:avLst/>
          </a:prstGeom>
          <a:noFill/>
          <a:effectLst>
            <a:glow rad="1079500">
              <a:schemeClr val="accent1">
                <a:alpha val="40000"/>
              </a:schemeClr>
            </a:glow>
          </a:effectLst>
        </p:spPr>
        <p:txBody>
          <a:bodyPr wrap="square" rtlCol="1">
            <a:sp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</a:rPr>
              <a:t>CHORD: A Hybrid Encryption Model for Cloud Storage Systems</a:t>
            </a:r>
          </a:p>
        </p:txBody>
      </p:sp>
      <p:sp>
        <p:nvSpPr>
          <p:cNvPr id="18" name="مربع نص 17">
            <a:extLst>
              <a:ext uri="{FF2B5EF4-FFF2-40B4-BE49-F238E27FC236}">
                <a16:creationId xmlns:a16="http://schemas.microsoft.com/office/drawing/2014/main" id="{EC5114B8-5ED9-4F20-8498-C56B23AD35CC}"/>
              </a:ext>
            </a:extLst>
          </p:cNvPr>
          <p:cNvSpPr txBox="1"/>
          <p:nvPr/>
        </p:nvSpPr>
        <p:spPr>
          <a:xfrm>
            <a:off x="7259809" y="7800953"/>
            <a:ext cx="15218398" cy="1015663"/>
          </a:xfrm>
          <a:prstGeom prst="rect">
            <a:avLst/>
          </a:prstGeom>
          <a:noFill/>
          <a:effectLst>
            <a:glow rad="1079500">
              <a:schemeClr val="accent1">
                <a:alpha val="40000"/>
              </a:schemeClr>
            </a:glow>
          </a:effectLst>
        </p:spPr>
        <p:txBody>
          <a:bodyPr wrap="square" rtlCol="1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D4A64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Master’s Thesis-Based</a:t>
            </a:r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D1EE7D08-96CA-1CAA-A53A-1C4964A1DEC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000"/>
                    </a14:imgEffect>
                    <a14:imgEffect>
                      <a14:saturation sat="17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973" y="570312"/>
            <a:ext cx="21427100" cy="3360115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glow rad="1079500">
              <a:schemeClr val="accent1">
                <a:alpha val="40000"/>
              </a:schemeClr>
            </a:glow>
            <a:outerShdw blurRad="635000" dist="50800" dir="5400000" sx="102000" sy="102000" algn="ctr" rotWithShape="0">
              <a:srgbClr val="000000">
                <a:alpha val="27000"/>
              </a:srgbClr>
            </a:outerShdw>
            <a:reflection endPos="0" dist="50800" dir="5400000" sy="-100000" algn="bl" rotWithShape="0"/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574562677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نسق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نسق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نسق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214</TotalTime>
  <Words>324</Words>
  <Application>Microsoft Office PowerPoint</Application>
  <PresentationFormat>مخصص</PresentationFormat>
  <Paragraphs>57</Paragraphs>
  <Slides>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نسق Office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am-i</dc:creator>
  <cp:lastModifiedBy>S am-i</cp:lastModifiedBy>
  <cp:revision>3</cp:revision>
  <dcterms:created xsi:type="dcterms:W3CDTF">2026-05-05T15:34:50Z</dcterms:created>
  <dcterms:modified xsi:type="dcterms:W3CDTF">2026-05-05T19:09:12Z</dcterms:modified>
</cp:coreProperties>
</file>
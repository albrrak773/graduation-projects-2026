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28803600" cy="43192700"/>
  <p:notesSz cx="6858000" cy="9144000"/>
  <p:embeddedFontLst>
    <p:embeddedFont>
      <p:font typeface="Open Sans Bold" charset="1" panose="00000000000000000000"/>
      <p:regular r:id="rId7"/>
    </p:embeddedFont>
    <p:embeddedFont>
      <p:font typeface="Inter Bold" charset="1" panose="02000503000000020004"/>
      <p:regular r:id="rId8"/>
    </p:embeddedFont>
    <p:embeddedFont>
      <p:font typeface="Inter" charset="1" panose="02000503000000020004"/>
      <p:regular r:id="rId9"/>
    </p:embeddedFont>
    <p:embeddedFont>
      <p:font typeface="Canva Sans Bold" charset="1" panose="020B0803030501040103"/>
      <p:regular r:id="rId10"/>
    </p:embeddedFont>
    <p:embeddedFont>
      <p:font typeface="Darker Grotesque Bold" charset="1" panose="00000000000000000000"/>
      <p:regular r:id="rId11"/>
    </p:embeddedFont>
    <p:embeddedFont>
      <p:font typeface="Canva Sans" charset="1" panose="020B0503030501040103"/>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31" Target="../media/image30.png" Type="http://schemas.openxmlformats.org/officeDocument/2006/relationships/image"/><Relationship Id="rId32" Target="../media/image31.svg" Type="http://schemas.openxmlformats.org/officeDocument/2006/relationships/image"/><Relationship Id="rId33" Target="../media/image32.png" Type="http://schemas.openxmlformats.org/officeDocument/2006/relationships/image"/><Relationship Id="rId34" Target="../media/image33.png" Type="http://schemas.openxmlformats.org/officeDocument/2006/relationships/image"/><Relationship Id="rId35" Target="../media/image34.svg" Type="http://schemas.openxmlformats.org/officeDocument/2006/relationships/image"/><Relationship Id="rId36" Target="../media/image35.png" Type="http://schemas.openxmlformats.org/officeDocument/2006/relationships/image"/><Relationship Id="rId37" Target="../media/image36.svg" Type="http://schemas.openxmlformats.org/officeDocument/2006/relationships/image"/><Relationship Id="rId38" Target="../media/image37.png" Type="http://schemas.openxmlformats.org/officeDocument/2006/relationships/image"/><Relationship Id="rId39" Target="../media/image38.svg" Type="http://schemas.openxmlformats.org/officeDocument/2006/relationships/image"/><Relationship Id="rId4" Target="../media/image3.png" Type="http://schemas.openxmlformats.org/officeDocument/2006/relationships/image"/><Relationship Id="rId40" Target="../media/image39.png" Type="http://schemas.openxmlformats.org/officeDocument/2006/relationships/image"/><Relationship Id="rId41" Target="../media/image40.svg" Type="http://schemas.openxmlformats.org/officeDocument/2006/relationships/image"/><Relationship Id="rId42" Target="../media/image41.png" Type="http://schemas.openxmlformats.org/officeDocument/2006/relationships/image"/><Relationship Id="rId43" Target="../media/image42.svg" Type="http://schemas.openxmlformats.org/officeDocument/2006/relationships/image"/><Relationship Id="rId44" Target="../media/image43.png" Type="http://schemas.openxmlformats.org/officeDocument/2006/relationships/image"/><Relationship Id="rId45" Target="../media/image44.svg" Type="http://schemas.openxmlformats.org/officeDocument/2006/relationships/image"/><Relationship Id="rId46" Target="../media/image45.png" Type="http://schemas.openxmlformats.org/officeDocument/2006/relationships/image"/><Relationship Id="rId47" Target="../media/image46.png" Type="http://schemas.openxmlformats.org/officeDocument/2006/relationships/image"/><Relationship Id="rId48" Target="../media/image47.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A"/>
        </a:solidFill>
      </p:bgPr>
    </p:bg>
    <p:spTree>
      <p:nvGrpSpPr>
        <p:cNvPr id="1" name=""/>
        <p:cNvGrpSpPr/>
        <p:nvPr/>
      </p:nvGrpSpPr>
      <p:grpSpPr>
        <a:xfrm>
          <a:off x="0" y="0"/>
          <a:ext cx="0" cy="0"/>
          <a:chOff x="0" y="0"/>
          <a:chExt cx="0" cy="0"/>
        </a:xfrm>
      </p:grpSpPr>
      <p:sp>
        <p:nvSpPr>
          <p:cNvPr name="Freeform 2" id="2"/>
          <p:cNvSpPr/>
          <p:nvPr/>
        </p:nvSpPr>
        <p:spPr>
          <a:xfrm flipH="false" flipV="false" rot="0">
            <a:off x="518476" y="2474295"/>
            <a:ext cx="29043200" cy="10137743"/>
          </a:xfrm>
          <a:custGeom>
            <a:avLst/>
            <a:gdLst/>
            <a:ahLst/>
            <a:cxnLst/>
            <a:rect r="r" b="b" t="t" l="l"/>
            <a:pathLst>
              <a:path h="10137743" w="29043200">
                <a:moveTo>
                  <a:pt x="0" y="0"/>
                </a:moveTo>
                <a:lnTo>
                  <a:pt x="29043200" y="0"/>
                </a:lnTo>
                <a:lnTo>
                  <a:pt x="29043200" y="10137743"/>
                </a:lnTo>
                <a:lnTo>
                  <a:pt x="0" y="10137743"/>
                </a:lnTo>
                <a:lnTo>
                  <a:pt x="0" y="0"/>
                </a:lnTo>
                <a:close/>
              </a:path>
            </a:pathLst>
          </a:custGeom>
          <a:blipFill>
            <a:blip r:embed="rId2">
              <a:extLst>
                <a:ext uri="{96DAC541-7B7A-43D3-8B79-37D633B846F1}">
                  <asvg:svgBlip xmlns:asvg="http://schemas.microsoft.com/office/drawing/2016/SVG/main" r:embed="rId3"/>
                </a:ext>
              </a:extLst>
            </a:blip>
            <a:stretch>
              <a:fillRect l="0" t="-17" r="0" b="-17"/>
            </a:stretch>
          </a:blipFill>
        </p:spPr>
      </p:sp>
      <p:sp>
        <p:nvSpPr>
          <p:cNvPr name="Freeform 3" id="3"/>
          <p:cNvSpPr/>
          <p:nvPr/>
        </p:nvSpPr>
        <p:spPr>
          <a:xfrm flipH="false" flipV="false" rot="0">
            <a:off x="-1894724" y="-1447629"/>
            <a:ext cx="32063629" cy="7361552"/>
          </a:xfrm>
          <a:custGeom>
            <a:avLst/>
            <a:gdLst/>
            <a:ahLst/>
            <a:cxnLst/>
            <a:rect r="r" b="b" t="t" l="l"/>
            <a:pathLst>
              <a:path h="7361552" w="32063629">
                <a:moveTo>
                  <a:pt x="0" y="0"/>
                </a:moveTo>
                <a:lnTo>
                  <a:pt x="32063629" y="0"/>
                </a:lnTo>
                <a:lnTo>
                  <a:pt x="32063629" y="7361553"/>
                </a:lnTo>
                <a:lnTo>
                  <a:pt x="0" y="7361553"/>
                </a:lnTo>
                <a:lnTo>
                  <a:pt x="0" y="0"/>
                </a:lnTo>
                <a:close/>
              </a:path>
            </a:pathLst>
          </a:custGeom>
          <a:blipFill>
            <a:blip r:embed="rId4">
              <a:extLst>
                <a:ext uri="{96DAC541-7B7A-43D3-8B79-37D633B846F1}">
                  <asvg:svgBlip xmlns:asvg="http://schemas.microsoft.com/office/drawing/2016/SVG/main" r:embed="rId5"/>
                </a:ext>
              </a:extLst>
            </a:blip>
            <a:stretch>
              <a:fillRect l="-17" t="0" r="-17" b="0"/>
            </a:stretch>
          </a:blipFill>
        </p:spPr>
      </p:sp>
      <p:sp>
        <p:nvSpPr>
          <p:cNvPr name="Freeform 4" id="4"/>
          <p:cNvSpPr/>
          <p:nvPr/>
        </p:nvSpPr>
        <p:spPr>
          <a:xfrm flipH="false" flipV="false" rot="0">
            <a:off x="-1041152" y="625714"/>
            <a:ext cx="31676610" cy="5424619"/>
          </a:xfrm>
          <a:custGeom>
            <a:avLst/>
            <a:gdLst/>
            <a:ahLst/>
            <a:cxnLst/>
            <a:rect r="r" b="b" t="t" l="l"/>
            <a:pathLst>
              <a:path h="5424619" w="31676610">
                <a:moveTo>
                  <a:pt x="0" y="0"/>
                </a:moveTo>
                <a:lnTo>
                  <a:pt x="31676609" y="0"/>
                </a:lnTo>
                <a:lnTo>
                  <a:pt x="31676609" y="5424619"/>
                </a:lnTo>
                <a:lnTo>
                  <a:pt x="0" y="5424619"/>
                </a:lnTo>
                <a:lnTo>
                  <a:pt x="0" y="0"/>
                </a:lnTo>
                <a:close/>
              </a:path>
            </a:pathLst>
          </a:custGeom>
          <a:blipFill>
            <a:blip r:embed="rId6">
              <a:extLst>
                <a:ext uri="{96DAC541-7B7A-43D3-8B79-37D633B846F1}">
                  <asvg:svgBlip xmlns:asvg="http://schemas.microsoft.com/office/drawing/2016/SVG/main" r:embed="rId7"/>
                </a:ext>
              </a:extLst>
            </a:blip>
            <a:stretch>
              <a:fillRect l="0" t="-109" r="0" b="-109"/>
            </a:stretch>
          </a:blipFill>
        </p:spPr>
      </p:sp>
      <p:sp>
        <p:nvSpPr>
          <p:cNvPr name="Freeform 5" id="5"/>
          <p:cNvSpPr/>
          <p:nvPr/>
        </p:nvSpPr>
        <p:spPr>
          <a:xfrm flipH="false" flipV="false" rot="0">
            <a:off x="84705" y="34177429"/>
            <a:ext cx="28708095" cy="13169838"/>
          </a:xfrm>
          <a:custGeom>
            <a:avLst/>
            <a:gdLst/>
            <a:ahLst/>
            <a:cxnLst/>
            <a:rect r="r" b="b" t="t" l="l"/>
            <a:pathLst>
              <a:path h="13169838" w="28708095">
                <a:moveTo>
                  <a:pt x="0" y="0"/>
                </a:moveTo>
                <a:lnTo>
                  <a:pt x="28708095" y="0"/>
                </a:lnTo>
                <a:lnTo>
                  <a:pt x="28708095" y="13169838"/>
                </a:lnTo>
                <a:lnTo>
                  <a:pt x="0" y="13169838"/>
                </a:lnTo>
                <a:lnTo>
                  <a:pt x="0" y="0"/>
                </a:lnTo>
                <a:close/>
              </a:path>
            </a:pathLst>
          </a:custGeom>
          <a:blipFill>
            <a:blip r:embed="rId8">
              <a:extLst>
                <a:ext uri="{96DAC541-7B7A-43D3-8B79-37D633B846F1}">
                  <asvg:svgBlip xmlns:asvg="http://schemas.microsoft.com/office/drawing/2016/SVG/main" r:embed="rId9"/>
                </a:ext>
              </a:extLst>
            </a:blip>
            <a:stretch>
              <a:fillRect l="0" t="-31" r="0" b="-31"/>
            </a:stretch>
          </a:blipFill>
        </p:spPr>
      </p:sp>
      <p:sp>
        <p:nvSpPr>
          <p:cNvPr name="Freeform 6" id="6"/>
          <p:cNvSpPr/>
          <p:nvPr/>
        </p:nvSpPr>
        <p:spPr>
          <a:xfrm flipH="false" flipV="false" rot="0">
            <a:off x="16118190" y="34387676"/>
            <a:ext cx="12760184" cy="7668257"/>
          </a:xfrm>
          <a:custGeom>
            <a:avLst/>
            <a:gdLst/>
            <a:ahLst/>
            <a:cxnLst/>
            <a:rect r="r" b="b" t="t" l="l"/>
            <a:pathLst>
              <a:path h="7668257" w="12760184">
                <a:moveTo>
                  <a:pt x="0" y="0"/>
                </a:moveTo>
                <a:lnTo>
                  <a:pt x="12760185" y="0"/>
                </a:lnTo>
                <a:lnTo>
                  <a:pt x="12760185" y="7668257"/>
                </a:lnTo>
                <a:lnTo>
                  <a:pt x="0" y="7668257"/>
                </a:lnTo>
                <a:lnTo>
                  <a:pt x="0" y="0"/>
                </a:lnTo>
                <a:close/>
              </a:path>
            </a:pathLst>
          </a:custGeom>
          <a:blipFill>
            <a:blip r:embed="rId10">
              <a:extLst>
                <a:ext uri="{96DAC541-7B7A-43D3-8B79-37D633B846F1}">
                  <asvg:svgBlip xmlns:asvg="http://schemas.microsoft.com/office/drawing/2016/SVG/main" r:embed="rId11"/>
                </a:ext>
              </a:extLst>
            </a:blip>
            <a:stretch>
              <a:fillRect l="0" t="-35" r="0" b="-35"/>
            </a:stretch>
          </a:blipFill>
        </p:spPr>
      </p:sp>
      <p:sp>
        <p:nvSpPr>
          <p:cNvPr name="Freeform 7" id="7"/>
          <p:cNvSpPr/>
          <p:nvPr/>
        </p:nvSpPr>
        <p:spPr>
          <a:xfrm flipH="false" flipV="false" rot="0">
            <a:off x="218505" y="17821555"/>
            <a:ext cx="16105465" cy="24244683"/>
          </a:xfrm>
          <a:custGeom>
            <a:avLst/>
            <a:gdLst/>
            <a:ahLst/>
            <a:cxnLst/>
            <a:rect r="r" b="b" t="t" l="l"/>
            <a:pathLst>
              <a:path h="24244683" w="16105465">
                <a:moveTo>
                  <a:pt x="0" y="0"/>
                </a:moveTo>
                <a:lnTo>
                  <a:pt x="16105465" y="0"/>
                </a:lnTo>
                <a:lnTo>
                  <a:pt x="16105465" y="24244683"/>
                </a:lnTo>
                <a:lnTo>
                  <a:pt x="0" y="24244683"/>
                </a:lnTo>
                <a:lnTo>
                  <a:pt x="0" y="0"/>
                </a:lnTo>
                <a:close/>
              </a:path>
            </a:pathLst>
          </a:custGeom>
          <a:blipFill>
            <a:blip r:embed="rId12">
              <a:extLst>
                <a:ext uri="{96DAC541-7B7A-43D3-8B79-37D633B846F1}">
                  <asvg:svgBlip xmlns:asvg="http://schemas.microsoft.com/office/drawing/2016/SVG/main" r:embed="rId13"/>
                </a:ext>
              </a:extLst>
            </a:blip>
            <a:stretch>
              <a:fillRect l="-9" t="0" r="-9" b="0"/>
            </a:stretch>
          </a:blipFill>
        </p:spPr>
      </p:sp>
      <p:sp>
        <p:nvSpPr>
          <p:cNvPr name="Freeform 8" id="8"/>
          <p:cNvSpPr/>
          <p:nvPr/>
        </p:nvSpPr>
        <p:spPr>
          <a:xfrm flipH="false" flipV="false" rot="0">
            <a:off x="16076251" y="17821555"/>
            <a:ext cx="12681810" cy="7743036"/>
          </a:xfrm>
          <a:custGeom>
            <a:avLst/>
            <a:gdLst/>
            <a:ahLst/>
            <a:cxnLst/>
            <a:rect r="r" b="b" t="t" l="l"/>
            <a:pathLst>
              <a:path h="7743036" w="12681810">
                <a:moveTo>
                  <a:pt x="0" y="0"/>
                </a:moveTo>
                <a:lnTo>
                  <a:pt x="12681810" y="0"/>
                </a:lnTo>
                <a:lnTo>
                  <a:pt x="12681810" y="7743035"/>
                </a:lnTo>
                <a:lnTo>
                  <a:pt x="0" y="77430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8089033" y="16907924"/>
            <a:ext cx="8642314" cy="3016657"/>
          </a:xfrm>
          <a:custGeom>
            <a:avLst/>
            <a:gdLst/>
            <a:ahLst/>
            <a:cxnLst/>
            <a:rect r="r" b="b" t="t" l="l"/>
            <a:pathLst>
              <a:path h="3016657" w="8642314">
                <a:moveTo>
                  <a:pt x="0" y="0"/>
                </a:moveTo>
                <a:lnTo>
                  <a:pt x="8642315" y="0"/>
                </a:lnTo>
                <a:lnTo>
                  <a:pt x="8642315" y="3016657"/>
                </a:lnTo>
                <a:lnTo>
                  <a:pt x="0" y="3016657"/>
                </a:lnTo>
                <a:lnTo>
                  <a:pt x="0" y="0"/>
                </a:lnTo>
                <a:close/>
              </a:path>
            </a:pathLst>
          </a:custGeom>
          <a:blipFill>
            <a:blip r:embed="rId2">
              <a:extLst>
                <a:ext uri="{96DAC541-7B7A-43D3-8B79-37D633B846F1}">
                  <asvg:svgBlip xmlns:asvg="http://schemas.microsoft.com/office/drawing/2016/SVG/main" r:embed="rId3"/>
                </a:ext>
              </a:extLst>
            </a:blip>
            <a:stretch>
              <a:fillRect l="0" t="-8" r="0" b="-8"/>
            </a:stretch>
          </a:blipFill>
        </p:spPr>
      </p:sp>
      <p:grpSp>
        <p:nvGrpSpPr>
          <p:cNvPr name="Group 10" id="10"/>
          <p:cNvGrpSpPr/>
          <p:nvPr/>
        </p:nvGrpSpPr>
        <p:grpSpPr>
          <a:xfrm rot="0">
            <a:off x="3249248" y="36208105"/>
            <a:ext cx="9491286" cy="5189543"/>
            <a:chOff x="0" y="0"/>
            <a:chExt cx="12656630" cy="6920255"/>
          </a:xfrm>
        </p:grpSpPr>
        <p:sp>
          <p:nvSpPr>
            <p:cNvPr name="Freeform 11" id="11"/>
            <p:cNvSpPr/>
            <p:nvPr/>
          </p:nvSpPr>
          <p:spPr>
            <a:xfrm flipH="false" flipV="false" rot="0">
              <a:off x="0" y="0"/>
              <a:ext cx="12656693" cy="6920230"/>
            </a:xfrm>
            <a:custGeom>
              <a:avLst/>
              <a:gdLst/>
              <a:ahLst/>
              <a:cxnLst/>
              <a:rect r="r" b="b" t="t" l="l"/>
              <a:pathLst>
                <a:path h="6920230" w="12656693">
                  <a:moveTo>
                    <a:pt x="0" y="0"/>
                  </a:moveTo>
                  <a:lnTo>
                    <a:pt x="12656693" y="0"/>
                  </a:lnTo>
                  <a:lnTo>
                    <a:pt x="12656693" y="6920230"/>
                  </a:lnTo>
                  <a:lnTo>
                    <a:pt x="0" y="6920230"/>
                  </a:lnTo>
                  <a:lnTo>
                    <a:pt x="0" y="0"/>
                  </a:lnTo>
                  <a:close/>
                </a:path>
              </a:pathLst>
            </a:custGeom>
            <a:blipFill>
              <a:blip r:embed="rId16"/>
              <a:stretch>
                <a:fillRect l="-3315" t="0" r="-3315" b="0"/>
              </a:stretch>
            </a:blipFill>
          </p:spPr>
        </p:sp>
      </p:grpSp>
      <p:sp>
        <p:nvSpPr>
          <p:cNvPr name="Freeform 12" id="12"/>
          <p:cNvSpPr/>
          <p:nvPr/>
        </p:nvSpPr>
        <p:spPr>
          <a:xfrm flipH="false" flipV="false" rot="0">
            <a:off x="1058352" y="20676676"/>
            <a:ext cx="1566724" cy="1566724"/>
          </a:xfrm>
          <a:custGeom>
            <a:avLst/>
            <a:gdLst/>
            <a:ahLst/>
            <a:cxnLst/>
            <a:rect r="r" b="b" t="t" l="l"/>
            <a:pathLst>
              <a:path h="1566724" w="1566724">
                <a:moveTo>
                  <a:pt x="0" y="0"/>
                </a:moveTo>
                <a:lnTo>
                  <a:pt x="1566724" y="0"/>
                </a:lnTo>
                <a:lnTo>
                  <a:pt x="1566724" y="1566724"/>
                </a:lnTo>
                <a:lnTo>
                  <a:pt x="0" y="156672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1095219" y="23591143"/>
            <a:ext cx="1587476" cy="1587476"/>
          </a:xfrm>
          <a:custGeom>
            <a:avLst/>
            <a:gdLst/>
            <a:ahLst/>
            <a:cxnLst/>
            <a:rect r="r" b="b" t="t" l="l"/>
            <a:pathLst>
              <a:path h="1587476" w="1587476">
                <a:moveTo>
                  <a:pt x="0" y="0"/>
                </a:moveTo>
                <a:lnTo>
                  <a:pt x="1587476" y="0"/>
                </a:lnTo>
                <a:lnTo>
                  <a:pt x="1587476" y="1587476"/>
                </a:lnTo>
                <a:lnTo>
                  <a:pt x="0" y="158747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4" id="14"/>
          <p:cNvGrpSpPr/>
          <p:nvPr/>
        </p:nvGrpSpPr>
        <p:grpSpPr>
          <a:xfrm rot="0">
            <a:off x="1237771" y="20883381"/>
            <a:ext cx="1331743" cy="1331743"/>
            <a:chOff x="0" y="0"/>
            <a:chExt cx="1775879" cy="1775879"/>
          </a:xfrm>
        </p:grpSpPr>
        <p:sp>
          <p:nvSpPr>
            <p:cNvPr name="Freeform 15" id="15"/>
            <p:cNvSpPr/>
            <p:nvPr/>
          </p:nvSpPr>
          <p:spPr>
            <a:xfrm flipH="false" flipV="false" rot="0">
              <a:off x="0" y="0"/>
              <a:ext cx="1775841" cy="1775841"/>
            </a:xfrm>
            <a:custGeom>
              <a:avLst/>
              <a:gdLst/>
              <a:ahLst/>
              <a:cxnLst/>
              <a:rect r="r" b="b" t="t" l="l"/>
              <a:pathLst>
                <a:path h="1775841" w="1775841">
                  <a:moveTo>
                    <a:pt x="0" y="0"/>
                  </a:moveTo>
                  <a:lnTo>
                    <a:pt x="1775841" y="0"/>
                  </a:lnTo>
                  <a:lnTo>
                    <a:pt x="1775841" y="1775841"/>
                  </a:lnTo>
                  <a:lnTo>
                    <a:pt x="0" y="1775841"/>
                  </a:lnTo>
                  <a:lnTo>
                    <a:pt x="0" y="0"/>
                  </a:lnTo>
                  <a:close/>
                </a:path>
              </a:pathLst>
            </a:custGeom>
            <a:blipFill>
              <a:blip r:embed="rId21"/>
              <a:stretch>
                <a:fillRect l="0" t="0" r="-2" b="-2"/>
              </a:stretch>
            </a:blipFill>
          </p:spPr>
        </p:sp>
      </p:grpSp>
      <p:sp>
        <p:nvSpPr>
          <p:cNvPr name="Freeform 16" id="16"/>
          <p:cNvSpPr/>
          <p:nvPr/>
        </p:nvSpPr>
        <p:spPr>
          <a:xfrm flipH="false" flipV="false" rot="0">
            <a:off x="16118190" y="26358064"/>
            <a:ext cx="12577685" cy="7477162"/>
          </a:xfrm>
          <a:custGeom>
            <a:avLst/>
            <a:gdLst/>
            <a:ahLst/>
            <a:cxnLst/>
            <a:rect r="r" b="b" t="t" l="l"/>
            <a:pathLst>
              <a:path h="7477162" w="12577685">
                <a:moveTo>
                  <a:pt x="0" y="0"/>
                </a:moveTo>
                <a:lnTo>
                  <a:pt x="12577685" y="0"/>
                </a:lnTo>
                <a:lnTo>
                  <a:pt x="12577685" y="7477162"/>
                </a:lnTo>
                <a:lnTo>
                  <a:pt x="0" y="7477162"/>
                </a:lnTo>
                <a:lnTo>
                  <a:pt x="0" y="0"/>
                </a:lnTo>
                <a:close/>
              </a:path>
            </a:pathLst>
          </a:custGeom>
          <a:blipFill>
            <a:blip r:embed="rId22">
              <a:extLst>
                <a:ext uri="{96DAC541-7B7A-43D3-8B79-37D633B846F1}">
                  <asvg:svgBlip xmlns:asvg="http://schemas.microsoft.com/office/drawing/2016/SVG/main" r:embed="rId23"/>
                </a:ext>
              </a:extLst>
            </a:blip>
            <a:stretch>
              <a:fillRect l="0" t="-1" r="0" b="-1"/>
            </a:stretch>
          </a:blipFill>
        </p:spPr>
      </p:sp>
      <p:sp>
        <p:nvSpPr>
          <p:cNvPr name="Freeform 17" id="17"/>
          <p:cNvSpPr/>
          <p:nvPr/>
        </p:nvSpPr>
        <p:spPr>
          <a:xfrm flipH="false" flipV="false" rot="0">
            <a:off x="1126019" y="29623248"/>
            <a:ext cx="1585943" cy="1585943"/>
          </a:xfrm>
          <a:custGeom>
            <a:avLst/>
            <a:gdLst/>
            <a:ahLst/>
            <a:cxnLst/>
            <a:rect r="r" b="b" t="t" l="l"/>
            <a:pathLst>
              <a:path h="1585943" w="1585943">
                <a:moveTo>
                  <a:pt x="0" y="0"/>
                </a:moveTo>
                <a:lnTo>
                  <a:pt x="1585943" y="0"/>
                </a:lnTo>
                <a:lnTo>
                  <a:pt x="1585943" y="1585942"/>
                </a:lnTo>
                <a:lnTo>
                  <a:pt x="0" y="158594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8" id="18"/>
          <p:cNvSpPr/>
          <p:nvPr/>
        </p:nvSpPr>
        <p:spPr>
          <a:xfrm flipH="false" flipV="false" rot="0">
            <a:off x="1268486" y="23840667"/>
            <a:ext cx="1301029" cy="1252238"/>
          </a:xfrm>
          <a:custGeom>
            <a:avLst/>
            <a:gdLst/>
            <a:ahLst/>
            <a:cxnLst/>
            <a:rect r="r" b="b" t="t" l="l"/>
            <a:pathLst>
              <a:path h="1252238" w="1301029">
                <a:moveTo>
                  <a:pt x="0" y="0"/>
                </a:moveTo>
                <a:lnTo>
                  <a:pt x="1301028" y="0"/>
                </a:lnTo>
                <a:lnTo>
                  <a:pt x="1301028" y="1252238"/>
                </a:lnTo>
                <a:lnTo>
                  <a:pt x="0" y="1252238"/>
                </a:lnTo>
                <a:lnTo>
                  <a:pt x="0" y="0"/>
                </a:lnTo>
                <a:close/>
              </a:path>
            </a:pathLst>
          </a:custGeom>
          <a:blipFill>
            <a:blip r:embed="rId26">
              <a:extLst>
                <a:ext uri="{96DAC541-7B7A-43D3-8B79-37D633B846F1}">
                  <asvg:svgBlip xmlns:asvg="http://schemas.microsoft.com/office/drawing/2016/SVG/main" r:embed="rId27"/>
                </a:ext>
              </a:extLst>
            </a:blip>
            <a:stretch>
              <a:fillRect l="0" t="-52" r="0" b="-51"/>
            </a:stretch>
          </a:blipFill>
        </p:spPr>
      </p:sp>
      <p:sp>
        <p:nvSpPr>
          <p:cNvPr name="Freeform 19" id="19"/>
          <p:cNvSpPr/>
          <p:nvPr/>
        </p:nvSpPr>
        <p:spPr>
          <a:xfrm flipH="false" flipV="false" rot="0">
            <a:off x="1318629" y="29978467"/>
            <a:ext cx="1137019" cy="875514"/>
          </a:xfrm>
          <a:custGeom>
            <a:avLst/>
            <a:gdLst/>
            <a:ahLst/>
            <a:cxnLst/>
            <a:rect r="r" b="b" t="t" l="l"/>
            <a:pathLst>
              <a:path h="875514" w="1137019">
                <a:moveTo>
                  <a:pt x="0" y="0"/>
                </a:moveTo>
                <a:lnTo>
                  <a:pt x="1137019" y="0"/>
                </a:lnTo>
                <a:lnTo>
                  <a:pt x="1137019" y="875514"/>
                </a:lnTo>
                <a:lnTo>
                  <a:pt x="0" y="875514"/>
                </a:lnTo>
                <a:lnTo>
                  <a:pt x="0" y="0"/>
                </a:lnTo>
                <a:close/>
              </a:path>
            </a:pathLst>
          </a:custGeom>
          <a:blipFill>
            <a:blip r:embed="rId28">
              <a:extLst>
                <a:ext uri="{96DAC541-7B7A-43D3-8B79-37D633B846F1}">
                  <asvg:svgBlip xmlns:asvg="http://schemas.microsoft.com/office/drawing/2016/SVG/main" r:embed="rId29"/>
                </a:ext>
              </a:extLst>
            </a:blip>
            <a:stretch>
              <a:fillRect l="-217" t="0" r="-217" b="0"/>
            </a:stretch>
          </a:blipFill>
        </p:spPr>
      </p:sp>
      <p:sp>
        <p:nvSpPr>
          <p:cNvPr name="Freeform 20" id="20"/>
          <p:cNvSpPr/>
          <p:nvPr/>
        </p:nvSpPr>
        <p:spPr>
          <a:xfrm flipH="false" flipV="false" rot="0">
            <a:off x="18161171" y="33790457"/>
            <a:ext cx="8642314" cy="3016657"/>
          </a:xfrm>
          <a:custGeom>
            <a:avLst/>
            <a:gdLst/>
            <a:ahLst/>
            <a:cxnLst/>
            <a:rect r="r" b="b" t="t" l="l"/>
            <a:pathLst>
              <a:path h="3016657" w="8642314">
                <a:moveTo>
                  <a:pt x="0" y="0"/>
                </a:moveTo>
                <a:lnTo>
                  <a:pt x="8642315" y="0"/>
                </a:lnTo>
                <a:lnTo>
                  <a:pt x="8642315" y="3016657"/>
                </a:lnTo>
                <a:lnTo>
                  <a:pt x="0" y="3016657"/>
                </a:lnTo>
                <a:lnTo>
                  <a:pt x="0" y="0"/>
                </a:lnTo>
                <a:close/>
              </a:path>
            </a:pathLst>
          </a:custGeom>
          <a:blipFill>
            <a:blip r:embed="rId2">
              <a:extLst>
                <a:ext uri="{96DAC541-7B7A-43D3-8B79-37D633B846F1}">
                  <asvg:svgBlip xmlns:asvg="http://schemas.microsoft.com/office/drawing/2016/SVG/main" r:embed="rId3"/>
                </a:ext>
              </a:extLst>
            </a:blip>
            <a:stretch>
              <a:fillRect l="0" t="-8" r="0" b="-8"/>
            </a:stretch>
          </a:blipFill>
        </p:spPr>
      </p:sp>
      <p:sp>
        <p:nvSpPr>
          <p:cNvPr name="Freeform 21" id="21"/>
          <p:cNvSpPr/>
          <p:nvPr/>
        </p:nvSpPr>
        <p:spPr>
          <a:xfrm flipH="false" flipV="false" rot="0">
            <a:off x="3897552" y="16907924"/>
            <a:ext cx="8642314" cy="3016657"/>
          </a:xfrm>
          <a:custGeom>
            <a:avLst/>
            <a:gdLst/>
            <a:ahLst/>
            <a:cxnLst/>
            <a:rect r="r" b="b" t="t" l="l"/>
            <a:pathLst>
              <a:path h="3016657" w="8642314">
                <a:moveTo>
                  <a:pt x="0" y="0"/>
                </a:moveTo>
                <a:lnTo>
                  <a:pt x="8642315" y="0"/>
                </a:lnTo>
                <a:lnTo>
                  <a:pt x="8642315" y="3016657"/>
                </a:lnTo>
                <a:lnTo>
                  <a:pt x="0" y="3016657"/>
                </a:lnTo>
                <a:lnTo>
                  <a:pt x="0" y="0"/>
                </a:lnTo>
                <a:close/>
              </a:path>
            </a:pathLst>
          </a:custGeom>
          <a:blipFill>
            <a:blip r:embed="rId2">
              <a:extLst>
                <a:ext uri="{96DAC541-7B7A-43D3-8B79-37D633B846F1}">
                  <asvg:svgBlip xmlns:asvg="http://schemas.microsoft.com/office/drawing/2016/SVG/main" r:embed="rId3"/>
                </a:ext>
              </a:extLst>
            </a:blip>
            <a:stretch>
              <a:fillRect l="0" t="-8" r="0" b="-8"/>
            </a:stretch>
          </a:blipFill>
        </p:spPr>
      </p:sp>
      <p:sp>
        <p:nvSpPr>
          <p:cNvPr name="Freeform 22" id="22"/>
          <p:cNvSpPr/>
          <p:nvPr/>
        </p:nvSpPr>
        <p:spPr>
          <a:xfrm flipH="false" flipV="false" rot="0">
            <a:off x="17837790" y="25339914"/>
            <a:ext cx="8642314" cy="3016657"/>
          </a:xfrm>
          <a:custGeom>
            <a:avLst/>
            <a:gdLst/>
            <a:ahLst/>
            <a:cxnLst/>
            <a:rect r="r" b="b" t="t" l="l"/>
            <a:pathLst>
              <a:path h="3016657" w="8642314">
                <a:moveTo>
                  <a:pt x="0" y="0"/>
                </a:moveTo>
                <a:lnTo>
                  <a:pt x="8642315" y="0"/>
                </a:lnTo>
                <a:lnTo>
                  <a:pt x="8642315" y="3016657"/>
                </a:lnTo>
                <a:lnTo>
                  <a:pt x="0" y="3016657"/>
                </a:lnTo>
                <a:lnTo>
                  <a:pt x="0" y="0"/>
                </a:lnTo>
                <a:close/>
              </a:path>
            </a:pathLst>
          </a:custGeom>
          <a:blipFill>
            <a:blip r:embed="rId2">
              <a:extLst>
                <a:ext uri="{96DAC541-7B7A-43D3-8B79-37D633B846F1}">
                  <asvg:svgBlip xmlns:asvg="http://schemas.microsoft.com/office/drawing/2016/SVG/main" r:embed="rId3"/>
                </a:ext>
              </a:extLst>
            </a:blip>
            <a:stretch>
              <a:fillRect l="0" t="-8" r="0" b="-8"/>
            </a:stretch>
          </a:blipFill>
        </p:spPr>
      </p:sp>
      <p:grpSp>
        <p:nvGrpSpPr>
          <p:cNvPr name="Group 23" id="23"/>
          <p:cNvGrpSpPr/>
          <p:nvPr/>
        </p:nvGrpSpPr>
        <p:grpSpPr>
          <a:xfrm rot="0">
            <a:off x="10079714" y="20457981"/>
            <a:ext cx="5434562" cy="9447581"/>
            <a:chOff x="0" y="0"/>
            <a:chExt cx="7246988" cy="12598349"/>
          </a:xfrm>
        </p:grpSpPr>
        <p:sp>
          <p:nvSpPr>
            <p:cNvPr name="Freeform 24" id="24"/>
            <p:cNvSpPr/>
            <p:nvPr/>
          </p:nvSpPr>
          <p:spPr>
            <a:xfrm flipH="false" flipV="false" rot="0">
              <a:off x="0" y="0"/>
              <a:ext cx="7247001" cy="12598400"/>
            </a:xfrm>
            <a:custGeom>
              <a:avLst/>
              <a:gdLst/>
              <a:ahLst/>
              <a:cxnLst/>
              <a:rect r="r" b="b" t="t" l="l"/>
              <a:pathLst>
                <a:path h="12598400" w="7247001">
                  <a:moveTo>
                    <a:pt x="0" y="0"/>
                  </a:moveTo>
                  <a:lnTo>
                    <a:pt x="7247001" y="0"/>
                  </a:lnTo>
                  <a:lnTo>
                    <a:pt x="7247001" y="12598400"/>
                  </a:lnTo>
                  <a:lnTo>
                    <a:pt x="0" y="12598400"/>
                  </a:lnTo>
                  <a:lnTo>
                    <a:pt x="0" y="0"/>
                  </a:lnTo>
                  <a:close/>
                </a:path>
              </a:pathLst>
            </a:custGeom>
            <a:blipFill>
              <a:blip r:embed="rId30"/>
              <a:stretch>
                <a:fillRect l="0" t="0" r="0" b="0"/>
              </a:stretch>
            </a:blipFill>
          </p:spPr>
        </p:sp>
      </p:grpSp>
      <p:grpSp>
        <p:nvGrpSpPr>
          <p:cNvPr name="Group 25" id="25"/>
          <p:cNvGrpSpPr/>
          <p:nvPr/>
        </p:nvGrpSpPr>
        <p:grpSpPr>
          <a:xfrm rot="0">
            <a:off x="1295610" y="158029"/>
            <a:ext cx="7389743" cy="3242257"/>
            <a:chOff x="0" y="0"/>
            <a:chExt cx="9854222" cy="4323550"/>
          </a:xfrm>
        </p:grpSpPr>
        <p:sp>
          <p:nvSpPr>
            <p:cNvPr name="Freeform 26" id="26"/>
            <p:cNvSpPr/>
            <p:nvPr/>
          </p:nvSpPr>
          <p:spPr>
            <a:xfrm flipH="false" flipV="false" rot="0">
              <a:off x="0" y="0"/>
              <a:ext cx="9854184" cy="4323588"/>
            </a:xfrm>
            <a:custGeom>
              <a:avLst/>
              <a:gdLst/>
              <a:ahLst/>
              <a:cxnLst/>
              <a:rect r="r" b="b" t="t" l="l"/>
              <a:pathLst>
                <a:path h="4323588" w="9854184">
                  <a:moveTo>
                    <a:pt x="0" y="0"/>
                  </a:moveTo>
                  <a:lnTo>
                    <a:pt x="9854184" y="0"/>
                  </a:lnTo>
                  <a:lnTo>
                    <a:pt x="9854184" y="4323588"/>
                  </a:lnTo>
                  <a:lnTo>
                    <a:pt x="0" y="4323588"/>
                  </a:lnTo>
                  <a:lnTo>
                    <a:pt x="0" y="0"/>
                  </a:lnTo>
                  <a:close/>
                </a:path>
              </a:pathLst>
            </a:custGeom>
            <a:blipFill>
              <a:blip r:embed="rId31"/>
              <a:stretch>
                <a:fillRect l="0" t="-155" r="0" b="-155"/>
              </a:stretch>
            </a:blipFill>
          </p:spPr>
        </p:sp>
      </p:grpSp>
      <p:sp>
        <p:nvSpPr>
          <p:cNvPr name="Freeform 27" id="27"/>
          <p:cNvSpPr/>
          <p:nvPr/>
        </p:nvSpPr>
        <p:spPr>
          <a:xfrm flipH="false" flipV="false" rot="0">
            <a:off x="1126019" y="26607190"/>
            <a:ext cx="1585933" cy="1585933"/>
          </a:xfrm>
          <a:custGeom>
            <a:avLst/>
            <a:gdLst/>
            <a:ahLst/>
            <a:cxnLst/>
            <a:rect r="r" b="b" t="t" l="l"/>
            <a:pathLst>
              <a:path h="1585933" w="1585933">
                <a:moveTo>
                  <a:pt x="0" y="0"/>
                </a:moveTo>
                <a:lnTo>
                  <a:pt x="1585933" y="0"/>
                </a:lnTo>
                <a:lnTo>
                  <a:pt x="1585933" y="1585934"/>
                </a:lnTo>
                <a:lnTo>
                  <a:pt x="0" y="1585934"/>
                </a:lnTo>
                <a:lnTo>
                  <a:pt x="0" y="0"/>
                </a:lnTo>
                <a:close/>
              </a:path>
            </a:pathLst>
          </a:custGeom>
          <a:blipFill>
            <a:blip r:embed="rId17">
              <a:extLst>
                <a:ext uri="{96DAC541-7B7A-43D3-8B79-37D633B846F1}">
                  <asvg:svgBlip xmlns:asvg="http://schemas.microsoft.com/office/drawing/2016/SVG/main" r:embed="rId32"/>
                </a:ext>
              </a:extLst>
            </a:blip>
            <a:stretch>
              <a:fillRect l="0" t="0" r="0" b="0"/>
            </a:stretch>
          </a:blipFill>
        </p:spPr>
      </p:sp>
      <p:grpSp>
        <p:nvGrpSpPr>
          <p:cNvPr name="Group 28" id="28"/>
          <p:cNvGrpSpPr/>
          <p:nvPr/>
        </p:nvGrpSpPr>
        <p:grpSpPr>
          <a:xfrm rot="0">
            <a:off x="1212895" y="26689629"/>
            <a:ext cx="1412162" cy="1421038"/>
            <a:chOff x="0" y="0"/>
            <a:chExt cx="1883118" cy="1894954"/>
          </a:xfrm>
        </p:grpSpPr>
        <p:sp>
          <p:nvSpPr>
            <p:cNvPr name="Freeform 29" id="29"/>
            <p:cNvSpPr/>
            <p:nvPr/>
          </p:nvSpPr>
          <p:spPr>
            <a:xfrm flipH="false" flipV="false" rot="0">
              <a:off x="0" y="0"/>
              <a:ext cx="1883156" cy="1894967"/>
            </a:xfrm>
            <a:custGeom>
              <a:avLst/>
              <a:gdLst/>
              <a:ahLst/>
              <a:cxnLst/>
              <a:rect r="r" b="b" t="t" l="l"/>
              <a:pathLst>
                <a:path h="1894967" w="1883156">
                  <a:moveTo>
                    <a:pt x="0" y="0"/>
                  </a:moveTo>
                  <a:lnTo>
                    <a:pt x="1883156" y="0"/>
                  </a:lnTo>
                  <a:lnTo>
                    <a:pt x="1883156" y="1894967"/>
                  </a:lnTo>
                  <a:lnTo>
                    <a:pt x="0" y="1894967"/>
                  </a:lnTo>
                  <a:lnTo>
                    <a:pt x="0" y="0"/>
                  </a:lnTo>
                  <a:close/>
                </a:path>
              </a:pathLst>
            </a:custGeom>
            <a:blipFill>
              <a:blip r:embed="rId33"/>
              <a:stretch>
                <a:fillRect l="-70" t="0" r="-69" b="0"/>
              </a:stretch>
            </a:blipFill>
          </p:spPr>
        </p:sp>
      </p:grpSp>
      <p:sp>
        <p:nvSpPr>
          <p:cNvPr name="TextBox 30" id="30"/>
          <p:cNvSpPr txBox="true"/>
          <p:nvPr/>
        </p:nvSpPr>
        <p:spPr>
          <a:xfrm rot="0">
            <a:off x="3809467" y="6168077"/>
            <a:ext cx="21177467" cy="5380224"/>
          </a:xfrm>
          <a:prstGeom prst="rect">
            <a:avLst/>
          </a:prstGeom>
        </p:spPr>
        <p:txBody>
          <a:bodyPr anchor="t" rtlCol="false" tIns="0" lIns="0" bIns="0" rIns="0">
            <a:spAutoFit/>
          </a:bodyPr>
          <a:lstStyle/>
          <a:p>
            <a:pPr algn="ctr" rtl="true">
              <a:lnSpc>
                <a:spcPts val="4761"/>
              </a:lnSpc>
            </a:pPr>
            <a:r>
              <a:rPr lang="en-US" b="true" sz="3400">
                <a:solidFill>
                  <a:srgbClr val="FEFFFA"/>
                </a:solidFill>
                <a:latin typeface="Open Sans Bold"/>
                <a:ea typeface="Open Sans Bold"/>
                <a:cs typeface="Open Sans Bold"/>
                <a:sym typeface="Open Sans Bold"/>
              </a:rPr>
              <a:t>Computer Engineering - </a:t>
            </a:r>
            <a:r>
              <a:rPr lang="en-US" b="true" sz="3400">
                <a:solidFill>
                  <a:srgbClr val="FEFFFA"/>
                </a:solidFill>
                <a:latin typeface="Open Sans Bold"/>
                <a:ea typeface="Open Sans Bold"/>
                <a:cs typeface="Open Sans Bold"/>
                <a:sym typeface="Open Sans Bold"/>
              </a:rPr>
              <a:t>College of Computer</a:t>
            </a:r>
            <a:r>
              <a:rPr lang="ar-EG" b="true" sz="3400">
                <a:solidFill>
                  <a:srgbClr val="FEFFFA"/>
                </a:solidFill>
                <a:latin typeface="Open Sans Bold"/>
                <a:ea typeface="Open Sans Bold"/>
                <a:cs typeface="Open Sans Bold"/>
                <a:sym typeface="Open Sans Bold"/>
                <a:rtl val="true"/>
              </a:rPr>
              <a:t> </a:t>
            </a:r>
          </a:p>
          <a:p>
            <a:pPr algn="ctr" rtl="true">
              <a:lnSpc>
                <a:spcPts val="4761"/>
              </a:lnSpc>
            </a:pPr>
          </a:p>
          <a:p>
            <a:pPr algn="ctr" rtl="true">
              <a:lnSpc>
                <a:spcPts val="4761"/>
              </a:lnSpc>
            </a:pPr>
          </a:p>
          <a:p>
            <a:pPr algn="ctr" rtl="true">
              <a:lnSpc>
                <a:spcPts val="4761"/>
              </a:lnSpc>
            </a:pPr>
            <a:r>
              <a:rPr lang="ar-EG" b="true" sz="3400">
                <a:solidFill>
                  <a:srgbClr val="FEFFFA"/>
                </a:solidFill>
                <a:latin typeface="Open Sans Bold"/>
                <a:ea typeface="Open Sans Bold"/>
                <a:cs typeface="Open Sans Bold"/>
                <a:sym typeface="Open Sans Bold"/>
                <a:rtl val="true"/>
              </a:rPr>
              <a:t> </a:t>
            </a:r>
            <a:r>
              <a:rPr lang="en-US" b="true" sz="3400">
                <a:solidFill>
                  <a:srgbClr val="FEFFFA"/>
                </a:solidFill>
                <a:latin typeface="Open Sans Bold"/>
                <a:ea typeface="Open Sans Bold"/>
                <a:cs typeface="Open Sans Bold"/>
                <a:sym typeface="Open Sans Bold"/>
              </a:rPr>
              <a:t>Abdullah Ghanim Alghanim ID: 431107765        Muhannad Saleh Alkhudhayer ID: 431107914</a:t>
            </a:r>
            <a:r>
              <a:rPr lang="ar-EG" b="true" sz="3400">
                <a:solidFill>
                  <a:srgbClr val="FEFFFA"/>
                </a:solidFill>
                <a:latin typeface="Open Sans Bold"/>
                <a:ea typeface="Open Sans Bold"/>
                <a:cs typeface="Open Sans Bold"/>
                <a:sym typeface="Open Sans Bold"/>
                <a:rtl val="true"/>
              </a:rPr>
              <a:t>  </a:t>
            </a:r>
          </a:p>
          <a:p>
            <a:pPr algn="ctr" rtl="true">
              <a:lnSpc>
                <a:spcPts val="4761"/>
              </a:lnSpc>
            </a:pPr>
            <a:r>
              <a:rPr lang="ar-EG" b="true" sz="3400">
                <a:solidFill>
                  <a:srgbClr val="FEFFFA"/>
                </a:solidFill>
                <a:latin typeface="Open Sans Bold"/>
                <a:ea typeface="Open Sans Bold"/>
                <a:cs typeface="Open Sans Bold"/>
                <a:sym typeface="Open Sans Bold"/>
                <a:rtl val="true"/>
              </a:rPr>
              <a:t> </a:t>
            </a:r>
          </a:p>
          <a:p>
            <a:pPr algn="l" rtl="true">
              <a:lnSpc>
                <a:spcPts val="4761"/>
              </a:lnSpc>
            </a:pPr>
            <a:r>
              <a:rPr lang="ar-EG" b="true" sz="3400">
                <a:solidFill>
                  <a:srgbClr val="FEFFFA"/>
                </a:solidFill>
                <a:latin typeface="Open Sans Bold"/>
                <a:ea typeface="Open Sans Bold"/>
                <a:cs typeface="Open Sans Bold"/>
                <a:sym typeface="Open Sans Bold"/>
                <a:rtl val="true"/>
              </a:rPr>
              <a:t> </a:t>
            </a:r>
            <a:r>
              <a:rPr lang="en-US" b="true" sz="3400">
                <a:solidFill>
                  <a:srgbClr val="FEFFFA"/>
                </a:solidFill>
                <a:latin typeface="Open Sans Bold"/>
                <a:ea typeface="Open Sans Bold"/>
                <a:cs typeface="Open Sans Bold"/>
                <a:sym typeface="Open Sans Bold"/>
              </a:rPr>
              <a:t>Harun Khalid Alagil                 ID: 431107905        Mohammad Saleh Alqernas      ID: 421108241</a:t>
            </a:r>
            <a:r>
              <a:rPr lang="ar-EG" b="true" sz="3400">
                <a:solidFill>
                  <a:srgbClr val="FEFFFA"/>
                </a:solidFill>
                <a:latin typeface="Open Sans Bold"/>
                <a:ea typeface="Open Sans Bold"/>
                <a:cs typeface="Open Sans Bold"/>
                <a:sym typeface="Open Sans Bold"/>
                <a:rtl val="true"/>
              </a:rPr>
              <a:t>        </a:t>
            </a:r>
          </a:p>
          <a:p>
            <a:pPr algn="ctr" rtl="true">
              <a:lnSpc>
                <a:spcPts val="4760"/>
              </a:lnSpc>
            </a:pPr>
          </a:p>
          <a:p>
            <a:pPr algn="ctr" rtl="true">
              <a:lnSpc>
                <a:spcPts val="4761"/>
              </a:lnSpc>
            </a:pPr>
            <a:r>
              <a:rPr lang="en-US" b="true" sz="3400">
                <a:solidFill>
                  <a:srgbClr val="FEFFFA"/>
                </a:solidFill>
                <a:latin typeface="Open Sans Bold"/>
                <a:ea typeface="Open Sans Bold"/>
                <a:cs typeface="Open Sans Bold"/>
                <a:sym typeface="Open Sans Bold"/>
              </a:rPr>
              <a:t>Supervisor: Dr. Jamal Al-Otaibi</a:t>
            </a:r>
            <a:r>
              <a:rPr lang="ar-EG" b="true" sz="3400">
                <a:solidFill>
                  <a:srgbClr val="FEFFFA"/>
                </a:solidFill>
                <a:latin typeface="Open Sans Bold"/>
                <a:ea typeface="Open Sans Bold"/>
                <a:cs typeface="Open Sans Bold"/>
                <a:sym typeface="Open Sans Bold"/>
                <a:rtl val="true"/>
              </a:rPr>
              <a:t> </a:t>
            </a:r>
          </a:p>
          <a:p>
            <a:pPr algn="ctr" rtl="true">
              <a:lnSpc>
                <a:spcPts val="4761"/>
              </a:lnSpc>
            </a:pPr>
          </a:p>
        </p:txBody>
      </p:sp>
      <p:sp>
        <p:nvSpPr>
          <p:cNvPr name="Freeform 31" id="31"/>
          <p:cNvSpPr/>
          <p:nvPr/>
        </p:nvSpPr>
        <p:spPr>
          <a:xfrm flipH="false" flipV="false" rot="0">
            <a:off x="1230819" y="12330343"/>
            <a:ext cx="27045914" cy="5167362"/>
          </a:xfrm>
          <a:custGeom>
            <a:avLst/>
            <a:gdLst/>
            <a:ahLst/>
            <a:cxnLst/>
            <a:rect r="r" b="b" t="t" l="l"/>
            <a:pathLst>
              <a:path h="5167362" w="27045914">
                <a:moveTo>
                  <a:pt x="0" y="0"/>
                </a:moveTo>
                <a:lnTo>
                  <a:pt x="27045914" y="0"/>
                </a:lnTo>
                <a:lnTo>
                  <a:pt x="27045914" y="5167362"/>
                </a:lnTo>
                <a:lnTo>
                  <a:pt x="0" y="5167362"/>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TextBox 32" id="32"/>
          <p:cNvSpPr txBox="true"/>
          <p:nvPr/>
        </p:nvSpPr>
        <p:spPr>
          <a:xfrm rot="0">
            <a:off x="1714767" y="13284647"/>
            <a:ext cx="25325895" cy="3980132"/>
          </a:xfrm>
          <a:prstGeom prst="rect">
            <a:avLst/>
          </a:prstGeom>
        </p:spPr>
        <p:txBody>
          <a:bodyPr anchor="t" rtlCol="false" tIns="0" lIns="0" bIns="0" rIns="0">
            <a:spAutoFit/>
          </a:bodyPr>
          <a:lstStyle/>
          <a:p>
            <a:pPr algn="ctr">
              <a:lnSpc>
                <a:spcPts val="5320"/>
              </a:lnSpc>
            </a:pPr>
            <a:r>
              <a:rPr lang="en-US" b="true" sz="3800">
                <a:solidFill>
                  <a:srgbClr val="000000"/>
                </a:solidFill>
                <a:latin typeface="Inter Bold"/>
                <a:ea typeface="Inter Bold"/>
                <a:cs typeface="Inter Bold"/>
                <a:sym typeface="Inter Bold"/>
              </a:rPr>
              <a:t>Epilepsy is a neurological disorder characterized by sudden and unpredictable seizures, creating serious risks to patient safety and making daily life difficult to manage due to the lack of reliable real-time prediction systems. This project proposes a wearable solution that analyzes EEG and physiological signals using signal processing, deep learning (CNN), and machine learning techniques to predict seizure onset in advance. The system provides timely warnings and notifies caregivers, enabling early intervention and improving patient safety and independence.</a:t>
            </a:r>
          </a:p>
        </p:txBody>
      </p:sp>
      <p:sp>
        <p:nvSpPr>
          <p:cNvPr name="Freeform 33" id="33"/>
          <p:cNvSpPr/>
          <p:nvPr/>
        </p:nvSpPr>
        <p:spPr>
          <a:xfrm flipH="false" flipV="false" rot="0">
            <a:off x="10077048" y="10505267"/>
            <a:ext cx="8642314" cy="3016657"/>
          </a:xfrm>
          <a:custGeom>
            <a:avLst/>
            <a:gdLst/>
            <a:ahLst/>
            <a:cxnLst/>
            <a:rect r="r" b="b" t="t" l="l"/>
            <a:pathLst>
              <a:path h="3016657" w="8642314">
                <a:moveTo>
                  <a:pt x="0" y="0"/>
                </a:moveTo>
                <a:lnTo>
                  <a:pt x="8642314" y="0"/>
                </a:lnTo>
                <a:lnTo>
                  <a:pt x="8642314" y="3016657"/>
                </a:lnTo>
                <a:lnTo>
                  <a:pt x="0" y="3016657"/>
                </a:lnTo>
                <a:lnTo>
                  <a:pt x="0" y="0"/>
                </a:lnTo>
                <a:close/>
              </a:path>
            </a:pathLst>
          </a:custGeom>
          <a:blipFill>
            <a:blip r:embed="rId2">
              <a:extLst>
                <a:ext uri="{96DAC541-7B7A-43D3-8B79-37D633B846F1}">
                  <asvg:svgBlip xmlns:asvg="http://schemas.microsoft.com/office/drawing/2016/SVG/main" r:embed="rId3"/>
                </a:ext>
              </a:extLst>
            </a:blip>
            <a:stretch>
              <a:fillRect l="0" t="-8" r="0" b="-8"/>
            </a:stretch>
          </a:blipFill>
        </p:spPr>
      </p:sp>
      <p:sp>
        <p:nvSpPr>
          <p:cNvPr name="Freeform 34" id="34"/>
          <p:cNvSpPr/>
          <p:nvPr/>
        </p:nvSpPr>
        <p:spPr>
          <a:xfrm flipH="false" flipV="false" rot="0">
            <a:off x="9753529" y="33564543"/>
            <a:ext cx="1438981" cy="1342619"/>
          </a:xfrm>
          <a:custGeom>
            <a:avLst/>
            <a:gdLst/>
            <a:ahLst/>
            <a:cxnLst/>
            <a:rect r="r" b="b" t="t" l="l"/>
            <a:pathLst>
              <a:path h="1342619" w="1438981">
                <a:moveTo>
                  <a:pt x="0" y="0"/>
                </a:moveTo>
                <a:lnTo>
                  <a:pt x="1438981" y="0"/>
                </a:lnTo>
                <a:lnTo>
                  <a:pt x="1438981" y="1342619"/>
                </a:lnTo>
                <a:lnTo>
                  <a:pt x="0" y="1342619"/>
                </a:lnTo>
                <a:lnTo>
                  <a:pt x="0" y="0"/>
                </a:lnTo>
                <a:close/>
              </a:path>
            </a:pathLst>
          </a:custGeom>
          <a:blipFill>
            <a:blip r:embed="rId36">
              <a:extLst>
                <a:ext uri="{96DAC541-7B7A-43D3-8B79-37D633B846F1}">
                  <asvg:svgBlip xmlns:asvg="http://schemas.microsoft.com/office/drawing/2016/SVG/main" r:embed="rId37"/>
                </a:ext>
              </a:extLst>
            </a:blip>
            <a:stretch>
              <a:fillRect l="0" t="-63" r="0" b="-62"/>
            </a:stretch>
          </a:blipFill>
        </p:spPr>
      </p:sp>
      <p:grpSp>
        <p:nvGrpSpPr>
          <p:cNvPr name="Group 35" id="35"/>
          <p:cNvGrpSpPr/>
          <p:nvPr/>
        </p:nvGrpSpPr>
        <p:grpSpPr>
          <a:xfrm rot="0">
            <a:off x="10451790" y="32708486"/>
            <a:ext cx="3365429" cy="930469"/>
            <a:chOff x="0" y="0"/>
            <a:chExt cx="4459491" cy="1232954"/>
          </a:xfrm>
        </p:grpSpPr>
        <p:sp>
          <p:nvSpPr>
            <p:cNvPr name="Freeform 36" id="36"/>
            <p:cNvSpPr/>
            <p:nvPr/>
          </p:nvSpPr>
          <p:spPr>
            <a:xfrm flipH="false" flipV="false" rot="0">
              <a:off x="0" y="0"/>
              <a:ext cx="4459478" cy="1233043"/>
            </a:xfrm>
            <a:custGeom>
              <a:avLst/>
              <a:gdLst/>
              <a:ahLst/>
              <a:cxnLst/>
              <a:rect r="r" b="b" t="t" l="l"/>
              <a:pathLst>
                <a:path h="1233043" w="4459478">
                  <a:moveTo>
                    <a:pt x="0" y="1201674"/>
                  </a:moveTo>
                  <a:lnTo>
                    <a:pt x="4381373" y="1201674"/>
                  </a:lnTo>
                  <a:lnTo>
                    <a:pt x="4381373" y="1217295"/>
                  </a:lnTo>
                  <a:lnTo>
                    <a:pt x="4381373" y="1201674"/>
                  </a:lnTo>
                  <a:cubicBezTo>
                    <a:pt x="4393819" y="1201674"/>
                    <a:pt x="4405757" y="1196721"/>
                    <a:pt x="4414520" y="1187958"/>
                  </a:cubicBezTo>
                  <a:lnTo>
                    <a:pt x="4425569" y="1199007"/>
                  </a:lnTo>
                  <a:lnTo>
                    <a:pt x="4414520" y="1187958"/>
                  </a:lnTo>
                  <a:cubicBezTo>
                    <a:pt x="4423283" y="1179195"/>
                    <a:pt x="4428236" y="1167130"/>
                    <a:pt x="4428236" y="1154811"/>
                  </a:cubicBezTo>
                  <a:lnTo>
                    <a:pt x="4443857" y="1154811"/>
                  </a:lnTo>
                  <a:lnTo>
                    <a:pt x="4428236" y="1154811"/>
                  </a:lnTo>
                  <a:lnTo>
                    <a:pt x="4428236" y="0"/>
                  </a:lnTo>
                  <a:lnTo>
                    <a:pt x="4459478" y="0"/>
                  </a:lnTo>
                  <a:lnTo>
                    <a:pt x="4459478" y="1154811"/>
                  </a:lnTo>
                  <a:cubicBezTo>
                    <a:pt x="4459478" y="1175639"/>
                    <a:pt x="4451223" y="1195451"/>
                    <a:pt x="4436618" y="1210183"/>
                  </a:cubicBezTo>
                  <a:cubicBezTo>
                    <a:pt x="4422013" y="1224915"/>
                    <a:pt x="4402074" y="1233043"/>
                    <a:pt x="4381246" y="1233043"/>
                  </a:cubicBezTo>
                  <a:lnTo>
                    <a:pt x="0" y="1233043"/>
                  </a:lnTo>
                  <a:close/>
                </a:path>
              </a:pathLst>
            </a:custGeom>
            <a:solidFill>
              <a:srgbClr val="000000"/>
            </a:solidFill>
          </p:spPr>
        </p:sp>
      </p:grpSp>
      <p:sp>
        <p:nvSpPr>
          <p:cNvPr name="Freeform 37" id="37"/>
          <p:cNvSpPr/>
          <p:nvPr/>
        </p:nvSpPr>
        <p:spPr>
          <a:xfrm flipH="false" flipV="false" rot="0">
            <a:off x="3325333" y="33891276"/>
            <a:ext cx="1144438" cy="623229"/>
          </a:xfrm>
          <a:custGeom>
            <a:avLst/>
            <a:gdLst/>
            <a:ahLst/>
            <a:cxnLst/>
            <a:rect r="r" b="b" t="t" l="l"/>
            <a:pathLst>
              <a:path h="623229" w="1144438">
                <a:moveTo>
                  <a:pt x="0" y="0"/>
                </a:moveTo>
                <a:lnTo>
                  <a:pt x="1144438" y="0"/>
                </a:lnTo>
                <a:lnTo>
                  <a:pt x="1144438" y="623229"/>
                </a:lnTo>
                <a:lnTo>
                  <a:pt x="0" y="623229"/>
                </a:lnTo>
                <a:lnTo>
                  <a:pt x="0" y="0"/>
                </a:lnTo>
                <a:close/>
              </a:path>
            </a:pathLst>
          </a:custGeom>
          <a:blipFill>
            <a:blip r:embed="rId38">
              <a:extLst>
                <a:ext uri="{96DAC541-7B7A-43D3-8B79-37D633B846F1}">
                  <asvg:svgBlip xmlns:asvg="http://schemas.microsoft.com/office/drawing/2016/SVG/main" r:embed="rId39"/>
                </a:ext>
              </a:extLst>
            </a:blip>
            <a:stretch>
              <a:fillRect l="0" t="-840" r="0" b="-838"/>
            </a:stretch>
          </a:blipFill>
        </p:spPr>
      </p:sp>
      <p:sp>
        <p:nvSpPr>
          <p:cNvPr name="TextBox 38" id="38"/>
          <p:cNvSpPr txBox="true"/>
          <p:nvPr/>
        </p:nvSpPr>
        <p:spPr>
          <a:xfrm rot="0">
            <a:off x="3249248" y="34188050"/>
            <a:ext cx="1296610" cy="114655"/>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Sensors</a:t>
            </a:r>
          </a:p>
        </p:txBody>
      </p:sp>
      <p:sp>
        <p:nvSpPr>
          <p:cNvPr name="Freeform 39" id="39"/>
          <p:cNvSpPr/>
          <p:nvPr/>
        </p:nvSpPr>
        <p:spPr>
          <a:xfrm flipH="false" flipV="false" rot="0">
            <a:off x="6822010" y="33897076"/>
            <a:ext cx="1144438" cy="634810"/>
          </a:xfrm>
          <a:custGeom>
            <a:avLst/>
            <a:gdLst/>
            <a:ahLst/>
            <a:cxnLst/>
            <a:rect r="r" b="b" t="t" l="l"/>
            <a:pathLst>
              <a:path h="634810" w="1144438">
                <a:moveTo>
                  <a:pt x="0" y="0"/>
                </a:moveTo>
                <a:lnTo>
                  <a:pt x="1144438" y="0"/>
                </a:lnTo>
                <a:lnTo>
                  <a:pt x="1144438" y="634810"/>
                </a:lnTo>
                <a:lnTo>
                  <a:pt x="0" y="634810"/>
                </a:lnTo>
                <a:lnTo>
                  <a:pt x="0" y="0"/>
                </a:lnTo>
                <a:close/>
              </a:path>
            </a:pathLst>
          </a:custGeom>
          <a:blipFill>
            <a:blip r:embed="rId40">
              <a:extLst>
                <a:ext uri="{96DAC541-7B7A-43D3-8B79-37D633B846F1}">
                  <asvg:svgBlip xmlns:asvg="http://schemas.microsoft.com/office/drawing/2016/SVG/main" r:embed="rId41"/>
                </a:ext>
              </a:extLst>
            </a:blip>
            <a:stretch>
              <a:fillRect l="0" t="-657" r="0" b="-657"/>
            </a:stretch>
          </a:blipFill>
        </p:spPr>
      </p:sp>
      <p:sp>
        <p:nvSpPr>
          <p:cNvPr name="TextBox 40" id="40"/>
          <p:cNvSpPr txBox="true"/>
          <p:nvPr/>
        </p:nvSpPr>
        <p:spPr>
          <a:xfrm rot="0">
            <a:off x="6745914" y="34064288"/>
            <a:ext cx="1296610" cy="447350"/>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Processing</a:t>
            </a:r>
          </a:p>
          <a:p>
            <a:pPr algn="ctr">
              <a:lnSpc>
                <a:spcPts val="1308"/>
              </a:lnSpc>
            </a:pPr>
            <a:r>
              <a:rPr lang="en-US" sz="1308">
                <a:solidFill>
                  <a:srgbClr val="FFFFFF"/>
                </a:solidFill>
                <a:latin typeface="Inter"/>
                <a:ea typeface="Inter"/>
                <a:cs typeface="Inter"/>
                <a:sym typeface="Inter"/>
              </a:rPr>
              <a:t>Unit</a:t>
            </a:r>
          </a:p>
          <a:p>
            <a:pPr algn="ctr">
              <a:lnSpc>
                <a:spcPts val="1308"/>
              </a:lnSpc>
            </a:pPr>
          </a:p>
        </p:txBody>
      </p:sp>
      <p:sp>
        <p:nvSpPr>
          <p:cNvPr name="Freeform 41" id="41"/>
          <p:cNvSpPr/>
          <p:nvPr/>
        </p:nvSpPr>
        <p:spPr>
          <a:xfrm flipH="false" flipV="false" rot="0">
            <a:off x="13233276" y="32085257"/>
            <a:ext cx="1144438" cy="623229"/>
          </a:xfrm>
          <a:custGeom>
            <a:avLst/>
            <a:gdLst/>
            <a:ahLst/>
            <a:cxnLst/>
            <a:rect r="r" b="b" t="t" l="l"/>
            <a:pathLst>
              <a:path h="623229" w="1144438">
                <a:moveTo>
                  <a:pt x="0" y="0"/>
                </a:moveTo>
                <a:lnTo>
                  <a:pt x="1144438" y="0"/>
                </a:lnTo>
                <a:lnTo>
                  <a:pt x="1144438" y="623229"/>
                </a:lnTo>
                <a:lnTo>
                  <a:pt x="0" y="623229"/>
                </a:lnTo>
                <a:lnTo>
                  <a:pt x="0" y="0"/>
                </a:lnTo>
                <a:close/>
              </a:path>
            </a:pathLst>
          </a:custGeom>
          <a:blipFill>
            <a:blip r:embed="rId42">
              <a:extLst>
                <a:ext uri="{96DAC541-7B7A-43D3-8B79-37D633B846F1}">
                  <asvg:svgBlip xmlns:asvg="http://schemas.microsoft.com/office/drawing/2016/SVG/main" r:embed="rId43"/>
                </a:ext>
              </a:extLst>
            </a:blip>
            <a:stretch>
              <a:fillRect l="0" t="-840" r="0" b="-838"/>
            </a:stretch>
          </a:blipFill>
        </p:spPr>
      </p:sp>
      <p:sp>
        <p:nvSpPr>
          <p:cNvPr name="Freeform 42" id="42"/>
          <p:cNvSpPr/>
          <p:nvPr/>
        </p:nvSpPr>
        <p:spPr>
          <a:xfrm flipH="false" flipV="false" rot="0">
            <a:off x="13233276" y="35697752"/>
            <a:ext cx="1144438" cy="623229"/>
          </a:xfrm>
          <a:custGeom>
            <a:avLst/>
            <a:gdLst/>
            <a:ahLst/>
            <a:cxnLst/>
            <a:rect r="r" b="b" t="t" l="l"/>
            <a:pathLst>
              <a:path h="623229" w="1144438">
                <a:moveTo>
                  <a:pt x="0" y="0"/>
                </a:moveTo>
                <a:lnTo>
                  <a:pt x="1144438" y="0"/>
                </a:lnTo>
                <a:lnTo>
                  <a:pt x="1144438" y="623229"/>
                </a:lnTo>
                <a:lnTo>
                  <a:pt x="0" y="623229"/>
                </a:lnTo>
                <a:lnTo>
                  <a:pt x="0" y="0"/>
                </a:lnTo>
                <a:close/>
              </a:path>
            </a:pathLst>
          </a:custGeom>
          <a:blipFill>
            <a:blip r:embed="rId42">
              <a:extLst>
                <a:ext uri="{96DAC541-7B7A-43D3-8B79-37D633B846F1}">
                  <asvg:svgBlip xmlns:asvg="http://schemas.microsoft.com/office/drawing/2016/SVG/main" r:embed="rId43"/>
                </a:ext>
              </a:extLst>
            </a:blip>
            <a:stretch>
              <a:fillRect l="0" t="-840" r="0" b="-838"/>
            </a:stretch>
          </a:blipFill>
        </p:spPr>
      </p:sp>
      <p:sp>
        <p:nvSpPr>
          <p:cNvPr name="TextBox 43" id="43"/>
          <p:cNvSpPr txBox="true"/>
          <p:nvPr/>
        </p:nvSpPr>
        <p:spPr>
          <a:xfrm rot="0">
            <a:off x="13145467" y="35892745"/>
            <a:ext cx="1296610" cy="280988"/>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Continue Monitoring</a:t>
            </a:r>
          </a:p>
        </p:txBody>
      </p:sp>
      <p:sp>
        <p:nvSpPr>
          <p:cNvPr name="Freeform 44" id="44"/>
          <p:cNvSpPr/>
          <p:nvPr/>
        </p:nvSpPr>
        <p:spPr>
          <a:xfrm flipH="false" flipV="false" rot="0">
            <a:off x="13233276" y="31000752"/>
            <a:ext cx="1144438" cy="623229"/>
          </a:xfrm>
          <a:custGeom>
            <a:avLst/>
            <a:gdLst/>
            <a:ahLst/>
            <a:cxnLst/>
            <a:rect r="r" b="b" t="t" l="l"/>
            <a:pathLst>
              <a:path h="623229" w="1144438">
                <a:moveTo>
                  <a:pt x="0" y="0"/>
                </a:moveTo>
                <a:lnTo>
                  <a:pt x="1144438" y="0"/>
                </a:lnTo>
                <a:lnTo>
                  <a:pt x="1144438" y="623229"/>
                </a:lnTo>
                <a:lnTo>
                  <a:pt x="0" y="623229"/>
                </a:lnTo>
                <a:lnTo>
                  <a:pt x="0" y="0"/>
                </a:lnTo>
                <a:close/>
              </a:path>
            </a:pathLst>
          </a:custGeom>
          <a:blipFill>
            <a:blip r:embed="rId38">
              <a:extLst>
                <a:ext uri="{96DAC541-7B7A-43D3-8B79-37D633B846F1}">
                  <asvg:svgBlip xmlns:asvg="http://schemas.microsoft.com/office/drawing/2016/SVG/main" r:embed="rId39"/>
                </a:ext>
              </a:extLst>
            </a:blip>
            <a:stretch>
              <a:fillRect l="0" t="-840" r="0" b="-838"/>
            </a:stretch>
          </a:blipFill>
        </p:spPr>
      </p:sp>
      <p:sp>
        <p:nvSpPr>
          <p:cNvPr name="Freeform 45" id="45"/>
          <p:cNvSpPr/>
          <p:nvPr/>
        </p:nvSpPr>
        <p:spPr>
          <a:xfrm flipH="false" flipV="false" rot="0">
            <a:off x="6781867" y="35697752"/>
            <a:ext cx="1224733" cy="678705"/>
          </a:xfrm>
          <a:custGeom>
            <a:avLst/>
            <a:gdLst/>
            <a:ahLst/>
            <a:cxnLst/>
            <a:rect r="r" b="b" t="t" l="l"/>
            <a:pathLst>
              <a:path h="678705" w="1224733">
                <a:moveTo>
                  <a:pt x="0" y="0"/>
                </a:moveTo>
                <a:lnTo>
                  <a:pt x="1224733" y="0"/>
                </a:lnTo>
                <a:lnTo>
                  <a:pt x="1224733" y="678705"/>
                </a:lnTo>
                <a:lnTo>
                  <a:pt x="0" y="678705"/>
                </a:lnTo>
                <a:lnTo>
                  <a:pt x="0" y="0"/>
                </a:lnTo>
                <a:close/>
              </a:path>
            </a:pathLst>
          </a:custGeom>
          <a:blipFill>
            <a:blip r:embed="rId44">
              <a:extLst>
                <a:ext uri="{96DAC541-7B7A-43D3-8B79-37D633B846F1}">
                  <asvg:svgBlip xmlns:asvg="http://schemas.microsoft.com/office/drawing/2016/SVG/main" r:embed="rId45"/>
                </a:ext>
              </a:extLst>
            </a:blip>
            <a:stretch>
              <a:fillRect l="-28" t="0" r="-29" b="0"/>
            </a:stretch>
          </a:blipFill>
        </p:spPr>
      </p:sp>
      <p:grpSp>
        <p:nvGrpSpPr>
          <p:cNvPr name="Group 46" id="46"/>
          <p:cNvGrpSpPr/>
          <p:nvPr/>
        </p:nvGrpSpPr>
        <p:grpSpPr>
          <a:xfrm rot="0">
            <a:off x="10451790" y="34790458"/>
            <a:ext cx="3365429" cy="907352"/>
            <a:chOff x="0" y="0"/>
            <a:chExt cx="4459491" cy="1202322"/>
          </a:xfrm>
        </p:grpSpPr>
        <p:sp>
          <p:nvSpPr>
            <p:cNvPr name="Freeform 47" id="47"/>
            <p:cNvSpPr/>
            <p:nvPr/>
          </p:nvSpPr>
          <p:spPr>
            <a:xfrm flipH="false" flipV="false" rot="0">
              <a:off x="0" y="0"/>
              <a:ext cx="4459605" cy="1202309"/>
            </a:xfrm>
            <a:custGeom>
              <a:avLst/>
              <a:gdLst/>
              <a:ahLst/>
              <a:cxnLst/>
              <a:rect r="r" b="b" t="t" l="l"/>
              <a:pathLst>
                <a:path h="1202309" w="4459605">
                  <a:moveTo>
                    <a:pt x="0" y="0"/>
                  </a:moveTo>
                  <a:lnTo>
                    <a:pt x="4381373" y="0"/>
                  </a:lnTo>
                  <a:lnTo>
                    <a:pt x="4381373" y="15621"/>
                  </a:lnTo>
                  <a:lnTo>
                    <a:pt x="4381373" y="0"/>
                  </a:lnTo>
                  <a:cubicBezTo>
                    <a:pt x="4402201" y="0"/>
                    <a:pt x="4422013" y="8255"/>
                    <a:pt x="4436745" y="22860"/>
                  </a:cubicBezTo>
                  <a:cubicBezTo>
                    <a:pt x="4451477" y="37592"/>
                    <a:pt x="4459605" y="57404"/>
                    <a:pt x="4459605" y="78232"/>
                  </a:cubicBezTo>
                  <a:lnTo>
                    <a:pt x="4443984" y="78232"/>
                  </a:lnTo>
                  <a:lnTo>
                    <a:pt x="4459605" y="78232"/>
                  </a:lnTo>
                  <a:lnTo>
                    <a:pt x="4459605" y="1202309"/>
                  </a:lnTo>
                  <a:lnTo>
                    <a:pt x="4428363" y="1202309"/>
                  </a:lnTo>
                  <a:lnTo>
                    <a:pt x="4428363" y="78105"/>
                  </a:lnTo>
                  <a:cubicBezTo>
                    <a:pt x="4428363" y="65659"/>
                    <a:pt x="4423410" y="53721"/>
                    <a:pt x="4414647" y="44958"/>
                  </a:cubicBezTo>
                  <a:lnTo>
                    <a:pt x="4425696" y="33909"/>
                  </a:lnTo>
                  <a:lnTo>
                    <a:pt x="4414647" y="44958"/>
                  </a:lnTo>
                  <a:cubicBezTo>
                    <a:pt x="4405884" y="36195"/>
                    <a:pt x="4393819" y="31242"/>
                    <a:pt x="4381500" y="31242"/>
                  </a:cubicBezTo>
                  <a:lnTo>
                    <a:pt x="0" y="31242"/>
                  </a:lnTo>
                  <a:close/>
                </a:path>
              </a:pathLst>
            </a:custGeom>
            <a:solidFill>
              <a:srgbClr val="000000"/>
            </a:solidFill>
          </p:spPr>
        </p:sp>
      </p:grpSp>
      <p:grpSp>
        <p:nvGrpSpPr>
          <p:cNvPr name="Group 48" id="48"/>
          <p:cNvGrpSpPr/>
          <p:nvPr/>
        </p:nvGrpSpPr>
        <p:grpSpPr>
          <a:xfrm rot="0">
            <a:off x="8012857" y="35979038"/>
            <a:ext cx="5220467" cy="42076"/>
            <a:chOff x="0" y="0"/>
            <a:chExt cx="6961492" cy="56109"/>
          </a:xfrm>
        </p:grpSpPr>
        <p:sp>
          <p:nvSpPr>
            <p:cNvPr name="Freeform 49" id="49"/>
            <p:cNvSpPr/>
            <p:nvPr/>
          </p:nvSpPr>
          <p:spPr>
            <a:xfrm flipH="false" flipV="false" rot="0">
              <a:off x="0" y="0"/>
              <a:ext cx="6961505" cy="56134"/>
            </a:xfrm>
            <a:custGeom>
              <a:avLst/>
              <a:gdLst/>
              <a:ahLst/>
              <a:cxnLst/>
              <a:rect r="r" b="b" t="t" l="l"/>
              <a:pathLst>
                <a:path h="56134" w="6961505">
                  <a:moveTo>
                    <a:pt x="6961378" y="56134"/>
                  </a:moveTo>
                  <a:lnTo>
                    <a:pt x="0" y="31242"/>
                  </a:lnTo>
                  <a:lnTo>
                    <a:pt x="0" y="0"/>
                  </a:lnTo>
                  <a:lnTo>
                    <a:pt x="6961505" y="24892"/>
                  </a:lnTo>
                  <a:close/>
                </a:path>
              </a:pathLst>
            </a:custGeom>
            <a:solidFill>
              <a:srgbClr val="000000"/>
            </a:solidFill>
          </p:spPr>
        </p:sp>
      </p:grpSp>
      <p:grpSp>
        <p:nvGrpSpPr>
          <p:cNvPr name="Group 50" id="50"/>
          <p:cNvGrpSpPr/>
          <p:nvPr/>
        </p:nvGrpSpPr>
        <p:grpSpPr>
          <a:xfrm rot="0">
            <a:off x="13782057" y="31623629"/>
            <a:ext cx="35162" cy="461886"/>
            <a:chOff x="0" y="0"/>
            <a:chExt cx="46888" cy="615925"/>
          </a:xfrm>
        </p:grpSpPr>
        <p:sp>
          <p:nvSpPr>
            <p:cNvPr name="Freeform 51" id="51"/>
            <p:cNvSpPr/>
            <p:nvPr/>
          </p:nvSpPr>
          <p:spPr>
            <a:xfrm flipH="false" flipV="false" rot="0">
              <a:off x="0" y="0"/>
              <a:ext cx="46863" cy="615950"/>
            </a:xfrm>
            <a:custGeom>
              <a:avLst/>
              <a:gdLst/>
              <a:ahLst/>
              <a:cxnLst/>
              <a:rect r="r" b="b" t="t" l="l"/>
              <a:pathLst>
                <a:path h="615950" w="46863">
                  <a:moveTo>
                    <a:pt x="15621" y="615950"/>
                  </a:moveTo>
                  <a:lnTo>
                    <a:pt x="0" y="889"/>
                  </a:lnTo>
                  <a:lnTo>
                    <a:pt x="31242" y="0"/>
                  </a:lnTo>
                  <a:lnTo>
                    <a:pt x="46863" y="615188"/>
                  </a:lnTo>
                  <a:close/>
                </a:path>
              </a:pathLst>
            </a:custGeom>
            <a:solidFill>
              <a:srgbClr val="000000"/>
            </a:solidFill>
          </p:spPr>
        </p:sp>
      </p:grpSp>
      <p:grpSp>
        <p:nvGrpSpPr>
          <p:cNvPr name="Group 52" id="52"/>
          <p:cNvGrpSpPr/>
          <p:nvPr/>
        </p:nvGrpSpPr>
        <p:grpSpPr>
          <a:xfrm rot="0">
            <a:off x="7966448" y="34198124"/>
            <a:ext cx="1848838" cy="28124"/>
            <a:chOff x="0" y="0"/>
            <a:chExt cx="2465426" cy="37503"/>
          </a:xfrm>
        </p:grpSpPr>
        <p:sp>
          <p:nvSpPr>
            <p:cNvPr name="Freeform 53" id="53"/>
            <p:cNvSpPr/>
            <p:nvPr/>
          </p:nvSpPr>
          <p:spPr>
            <a:xfrm flipH="false" flipV="false" rot="0">
              <a:off x="0" y="0"/>
              <a:ext cx="2465451" cy="37465"/>
            </a:xfrm>
            <a:custGeom>
              <a:avLst/>
              <a:gdLst/>
              <a:ahLst/>
              <a:cxnLst/>
              <a:rect r="r" b="b" t="t" l="l"/>
              <a:pathLst>
                <a:path h="37465" w="2465451">
                  <a:moveTo>
                    <a:pt x="0" y="6223"/>
                  </a:moveTo>
                  <a:lnTo>
                    <a:pt x="2465324" y="0"/>
                  </a:lnTo>
                  <a:lnTo>
                    <a:pt x="2465451" y="31242"/>
                  </a:lnTo>
                  <a:lnTo>
                    <a:pt x="0" y="37465"/>
                  </a:lnTo>
                  <a:close/>
                </a:path>
              </a:pathLst>
            </a:custGeom>
            <a:solidFill>
              <a:srgbClr val="000000"/>
            </a:solidFill>
          </p:spPr>
        </p:sp>
      </p:grpSp>
      <p:grpSp>
        <p:nvGrpSpPr>
          <p:cNvPr name="Group 54" id="54"/>
          <p:cNvGrpSpPr/>
          <p:nvPr/>
        </p:nvGrpSpPr>
        <p:grpSpPr>
          <a:xfrm rot="0">
            <a:off x="4469781" y="34191171"/>
            <a:ext cx="2352219" cy="30352"/>
            <a:chOff x="0" y="0"/>
            <a:chExt cx="3136684" cy="40475"/>
          </a:xfrm>
        </p:grpSpPr>
        <p:sp>
          <p:nvSpPr>
            <p:cNvPr name="Freeform 55" id="55"/>
            <p:cNvSpPr/>
            <p:nvPr/>
          </p:nvSpPr>
          <p:spPr>
            <a:xfrm flipH="false" flipV="false" rot="0">
              <a:off x="0" y="0"/>
              <a:ext cx="3136646" cy="40513"/>
            </a:xfrm>
            <a:custGeom>
              <a:avLst/>
              <a:gdLst/>
              <a:ahLst/>
              <a:cxnLst/>
              <a:rect r="r" b="b" t="t" l="l"/>
              <a:pathLst>
                <a:path h="40513" w="3136646">
                  <a:moveTo>
                    <a:pt x="0" y="0"/>
                  </a:moveTo>
                  <a:lnTo>
                    <a:pt x="3136646" y="9271"/>
                  </a:lnTo>
                  <a:lnTo>
                    <a:pt x="3136519" y="40513"/>
                  </a:lnTo>
                  <a:lnTo>
                    <a:pt x="0" y="31242"/>
                  </a:lnTo>
                  <a:close/>
                </a:path>
              </a:pathLst>
            </a:custGeom>
            <a:solidFill>
              <a:srgbClr val="000000"/>
            </a:solidFill>
          </p:spPr>
        </p:sp>
      </p:grpSp>
      <p:grpSp>
        <p:nvGrpSpPr>
          <p:cNvPr name="Group 56" id="56"/>
          <p:cNvGrpSpPr/>
          <p:nvPr/>
        </p:nvGrpSpPr>
        <p:grpSpPr>
          <a:xfrm rot="0">
            <a:off x="14034171" y="32679924"/>
            <a:ext cx="57143" cy="3046400"/>
            <a:chOff x="0" y="0"/>
            <a:chExt cx="76200" cy="4062374"/>
          </a:xfrm>
        </p:grpSpPr>
        <p:sp>
          <p:nvSpPr>
            <p:cNvPr name="Freeform 57" id="57"/>
            <p:cNvSpPr/>
            <p:nvPr/>
          </p:nvSpPr>
          <p:spPr>
            <a:xfrm flipH="false" flipV="false" rot="0">
              <a:off x="0" y="38100"/>
              <a:ext cx="76200" cy="3986149"/>
            </a:xfrm>
            <a:custGeom>
              <a:avLst/>
              <a:gdLst/>
              <a:ahLst/>
              <a:cxnLst/>
              <a:rect r="r" b="b" t="t" l="l"/>
              <a:pathLst>
                <a:path h="3986149" w="76200">
                  <a:moveTo>
                    <a:pt x="0" y="3833749"/>
                  </a:moveTo>
                  <a:lnTo>
                    <a:pt x="0" y="3757549"/>
                  </a:lnTo>
                  <a:lnTo>
                    <a:pt x="76200" y="3757549"/>
                  </a:lnTo>
                  <a:lnTo>
                    <a:pt x="76200" y="3833749"/>
                  </a:lnTo>
                  <a:close/>
                  <a:moveTo>
                    <a:pt x="76200" y="3681349"/>
                  </a:moveTo>
                  <a:lnTo>
                    <a:pt x="76200" y="3605149"/>
                  </a:lnTo>
                  <a:lnTo>
                    <a:pt x="76200" y="3681349"/>
                  </a:lnTo>
                  <a:close/>
                  <a:moveTo>
                    <a:pt x="76200" y="3528949"/>
                  </a:moveTo>
                  <a:lnTo>
                    <a:pt x="76200" y="3452749"/>
                  </a:lnTo>
                  <a:lnTo>
                    <a:pt x="76200" y="3528949"/>
                  </a:lnTo>
                  <a:close/>
                  <a:moveTo>
                    <a:pt x="76200" y="3376549"/>
                  </a:moveTo>
                  <a:lnTo>
                    <a:pt x="76200" y="3300349"/>
                  </a:lnTo>
                  <a:lnTo>
                    <a:pt x="76200" y="3376549"/>
                  </a:lnTo>
                  <a:close/>
                  <a:moveTo>
                    <a:pt x="76200" y="3224149"/>
                  </a:moveTo>
                  <a:lnTo>
                    <a:pt x="76200" y="3147949"/>
                  </a:lnTo>
                  <a:lnTo>
                    <a:pt x="76200" y="3224149"/>
                  </a:lnTo>
                  <a:close/>
                  <a:moveTo>
                    <a:pt x="76200" y="3071749"/>
                  </a:moveTo>
                  <a:lnTo>
                    <a:pt x="76200" y="2995549"/>
                  </a:lnTo>
                  <a:lnTo>
                    <a:pt x="76200" y="3071749"/>
                  </a:lnTo>
                  <a:close/>
                  <a:moveTo>
                    <a:pt x="76200" y="2919349"/>
                  </a:moveTo>
                  <a:lnTo>
                    <a:pt x="76200" y="2843149"/>
                  </a:lnTo>
                  <a:lnTo>
                    <a:pt x="76200" y="2919349"/>
                  </a:lnTo>
                  <a:close/>
                  <a:moveTo>
                    <a:pt x="76200" y="2766949"/>
                  </a:moveTo>
                  <a:lnTo>
                    <a:pt x="76200" y="2690749"/>
                  </a:lnTo>
                  <a:lnTo>
                    <a:pt x="76200" y="2766949"/>
                  </a:lnTo>
                  <a:close/>
                  <a:moveTo>
                    <a:pt x="76200" y="2614549"/>
                  </a:moveTo>
                  <a:lnTo>
                    <a:pt x="76200" y="2538349"/>
                  </a:lnTo>
                  <a:lnTo>
                    <a:pt x="76200" y="2614549"/>
                  </a:lnTo>
                  <a:close/>
                  <a:moveTo>
                    <a:pt x="76200" y="2462149"/>
                  </a:moveTo>
                  <a:lnTo>
                    <a:pt x="76200" y="2385949"/>
                  </a:lnTo>
                  <a:lnTo>
                    <a:pt x="76200" y="2462149"/>
                  </a:lnTo>
                  <a:close/>
                  <a:moveTo>
                    <a:pt x="76200" y="2309749"/>
                  </a:moveTo>
                  <a:lnTo>
                    <a:pt x="76200" y="2233549"/>
                  </a:lnTo>
                  <a:lnTo>
                    <a:pt x="76200" y="2309749"/>
                  </a:lnTo>
                  <a:close/>
                  <a:moveTo>
                    <a:pt x="76200" y="2157349"/>
                  </a:moveTo>
                  <a:lnTo>
                    <a:pt x="76200" y="2081149"/>
                  </a:lnTo>
                  <a:lnTo>
                    <a:pt x="76200" y="2157349"/>
                  </a:lnTo>
                  <a:close/>
                  <a:moveTo>
                    <a:pt x="76200" y="2004949"/>
                  </a:moveTo>
                  <a:lnTo>
                    <a:pt x="76200" y="1928749"/>
                  </a:lnTo>
                  <a:lnTo>
                    <a:pt x="76200" y="2004949"/>
                  </a:lnTo>
                  <a:close/>
                  <a:moveTo>
                    <a:pt x="76200" y="1852549"/>
                  </a:moveTo>
                  <a:lnTo>
                    <a:pt x="76200" y="1776349"/>
                  </a:lnTo>
                  <a:lnTo>
                    <a:pt x="76200" y="1852549"/>
                  </a:lnTo>
                  <a:close/>
                  <a:moveTo>
                    <a:pt x="76200" y="1700149"/>
                  </a:moveTo>
                  <a:lnTo>
                    <a:pt x="76200" y="1623949"/>
                  </a:lnTo>
                  <a:lnTo>
                    <a:pt x="76200" y="1700149"/>
                  </a:lnTo>
                  <a:close/>
                  <a:moveTo>
                    <a:pt x="76200" y="1547749"/>
                  </a:moveTo>
                  <a:lnTo>
                    <a:pt x="76200" y="1471549"/>
                  </a:lnTo>
                  <a:lnTo>
                    <a:pt x="76200" y="1547749"/>
                  </a:lnTo>
                  <a:close/>
                  <a:moveTo>
                    <a:pt x="76200" y="1395349"/>
                  </a:moveTo>
                  <a:lnTo>
                    <a:pt x="76200" y="1319149"/>
                  </a:lnTo>
                  <a:lnTo>
                    <a:pt x="76200" y="1395349"/>
                  </a:lnTo>
                  <a:close/>
                  <a:moveTo>
                    <a:pt x="76200" y="1242949"/>
                  </a:moveTo>
                  <a:lnTo>
                    <a:pt x="76200" y="1166749"/>
                  </a:lnTo>
                  <a:lnTo>
                    <a:pt x="76200" y="1242949"/>
                  </a:lnTo>
                  <a:close/>
                  <a:moveTo>
                    <a:pt x="76200" y="1090549"/>
                  </a:moveTo>
                  <a:lnTo>
                    <a:pt x="76200" y="1014349"/>
                  </a:lnTo>
                  <a:lnTo>
                    <a:pt x="76200" y="1090549"/>
                  </a:lnTo>
                  <a:close/>
                  <a:moveTo>
                    <a:pt x="76200" y="938149"/>
                  </a:moveTo>
                  <a:lnTo>
                    <a:pt x="76200" y="861949"/>
                  </a:lnTo>
                  <a:lnTo>
                    <a:pt x="76200" y="938149"/>
                  </a:lnTo>
                  <a:close/>
                  <a:moveTo>
                    <a:pt x="76200" y="785749"/>
                  </a:moveTo>
                  <a:lnTo>
                    <a:pt x="76200" y="709549"/>
                  </a:lnTo>
                  <a:lnTo>
                    <a:pt x="76200" y="785749"/>
                  </a:lnTo>
                  <a:close/>
                  <a:moveTo>
                    <a:pt x="76200" y="633349"/>
                  </a:moveTo>
                  <a:lnTo>
                    <a:pt x="76200" y="557149"/>
                  </a:lnTo>
                  <a:lnTo>
                    <a:pt x="76200" y="633349"/>
                  </a:lnTo>
                  <a:close/>
                  <a:moveTo>
                    <a:pt x="76200" y="480949"/>
                  </a:moveTo>
                  <a:lnTo>
                    <a:pt x="76200" y="404749"/>
                  </a:lnTo>
                  <a:lnTo>
                    <a:pt x="76200" y="480949"/>
                  </a:lnTo>
                  <a:close/>
                  <a:moveTo>
                    <a:pt x="76200" y="328549"/>
                  </a:moveTo>
                  <a:lnTo>
                    <a:pt x="76200" y="252349"/>
                  </a:lnTo>
                  <a:lnTo>
                    <a:pt x="76200" y="328549"/>
                  </a:lnTo>
                  <a:close/>
                  <a:moveTo>
                    <a:pt x="76200" y="176149"/>
                  </a:moveTo>
                  <a:lnTo>
                    <a:pt x="76200" y="99949"/>
                  </a:lnTo>
                  <a:lnTo>
                    <a:pt x="76200" y="176149"/>
                  </a:lnTo>
                  <a:close/>
                  <a:moveTo>
                    <a:pt x="76200" y="23749"/>
                  </a:moveTo>
                  <a:lnTo>
                    <a:pt x="76200" y="0"/>
                  </a:lnTo>
                  <a:lnTo>
                    <a:pt x="76200" y="23749"/>
                  </a:lnTo>
                  <a:close/>
                  <a:moveTo>
                    <a:pt x="76200" y="3986149"/>
                  </a:moveTo>
                  <a:lnTo>
                    <a:pt x="76200" y="3909949"/>
                  </a:lnTo>
                  <a:lnTo>
                    <a:pt x="76200" y="3986149"/>
                  </a:lnTo>
                  <a:close/>
                </a:path>
              </a:pathLst>
            </a:custGeom>
            <a:solidFill>
              <a:srgbClr val="000000"/>
            </a:solidFill>
          </p:spPr>
        </p:sp>
      </p:grpSp>
      <p:grpSp>
        <p:nvGrpSpPr>
          <p:cNvPr name="Group 58" id="58"/>
          <p:cNvGrpSpPr/>
          <p:nvPr/>
        </p:nvGrpSpPr>
        <p:grpSpPr>
          <a:xfrm rot="0">
            <a:off x="16698133" y="28682676"/>
            <a:ext cx="5034733" cy="4636152"/>
            <a:chOff x="0" y="0"/>
            <a:chExt cx="6713817" cy="6182309"/>
          </a:xfrm>
        </p:grpSpPr>
        <p:sp>
          <p:nvSpPr>
            <p:cNvPr name="Freeform 59" id="59"/>
            <p:cNvSpPr/>
            <p:nvPr/>
          </p:nvSpPr>
          <p:spPr>
            <a:xfrm flipH="false" flipV="false" rot="0">
              <a:off x="0" y="0"/>
              <a:ext cx="6713855" cy="6182360"/>
            </a:xfrm>
            <a:custGeom>
              <a:avLst/>
              <a:gdLst/>
              <a:ahLst/>
              <a:cxnLst/>
              <a:rect r="r" b="b" t="t" l="l"/>
              <a:pathLst>
                <a:path h="6182360" w="6713855">
                  <a:moveTo>
                    <a:pt x="0" y="0"/>
                  </a:moveTo>
                  <a:lnTo>
                    <a:pt x="6713855" y="0"/>
                  </a:lnTo>
                  <a:lnTo>
                    <a:pt x="6713855" y="6182360"/>
                  </a:lnTo>
                  <a:lnTo>
                    <a:pt x="0" y="6182360"/>
                  </a:lnTo>
                  <a:lnTo>
                    <a:pt x="0" y="0"/>
                  </a:lnTo>
                  <a:close/>
                </a:path>
              </a:pathLst>
            </a:custGeom>
            <a:blipFill>
              <a:blip r:embed="rId46"/>
              <a:stretch>
                <a:fillRect l="0" t="0" r="0" b="0"/>
              </a:stretch>
            </a:blipFill>
          </p:spPr>
        </p:sp>
      </p:grpSp>
      <p:grpSp>
        <p:nvGrpSpPr>
          <p:cNvPr name="Group 60" id="60"/>
          <p:cNvGrpSpPr/>
          <p:nvPr/>
        </p:nvGrpSpPr>
        <p:grpSpPr>
          <a:xfrm rot="0">
            <a:off x="22410190" y="28666524"/>
            <a:ext cx="5052276" cy="4652305"/>
            <a:chOff x="0" y="0"/>
            <a:chExt cx="6737210" cy="6203848"/>
          </a:xfrm>
        </p:grpSpPr>
        <p:sp>
          <p:nvSpPr>
            <p:cNvPr name="Freeform 61" id="61"/>
            <p:cNvSpPr/>
            <p:nvPr/>
          </p:nvSpPr>
          <p:spPr>
            <a:xfrm flipH="false" flipV="false" rot="0">
              <a:off x="0" y="0"/>
              <a:ext cx="6737223" cy="6203823"/>
            </a:xfrm>
            <a:custGeom>
              <a:avLst/>
              <a:gdLst/>
              <a:ahLst/>
              <a:cxnLst/>
              <a:rect r="r" b="b" t="t" l="l"/>
              <a:pathLst>
                <a:path h="6203823" w="6737223">
                  <a:moveTo>
                    <a:pt x="0" y="0"/>
                  </a:moveTo>
                  <a:lnTo>
                    <a:pt x="6737223" y="0"/>
                  </a:lnTo>
                  <a:lnTo>
                    <a:pt x="6737223" y="6203823"/>
                  </a:lnTo>
                  <a:lnTo>
                    <a:pt x="0" y="6203823"/>
                  </a:lnTo>
                  <a:lnTo>
                    <a:pt x="0" y="0"/>
                  </a:lnTo>
                  <a:close/>
                </a:path>
              </a:pathLst>
            </a:custGeom>
            <a:blipFill>
              <a:blip r:embed="rId47"/>
              <a:stretch>
                <a:fillRect l="0" t="0" r="0" b="0"/>
              </a:stretch>
            </a:blipFill>
          </p:spPr>
        </p:sp>
      </p:grpSp>
      <p:sp>
        <p:nvSpPr>
          <p:cNvPr name="TextBox 62" id="62"/>
          <p:cNvSpPr txBox="true"/>
          <p:nvPr/>
        </p:nvSpPr>
        <p:spPr>
          <a:xfrm rot="0">
            <a:off x="10079714" y="1568385"/>
            <a:ext cx="18480324" cy="3371120"/>
          </a:xfrm>
          <a:prstGeom prst="rect">
            <a:avLst/>
          </a:prstGeom>
        </p:spPr>
        <p:txBody>
          <a:bodyPr anchor="t" rtlCol="false" tIns="0" lIns="0" bIns="0" rIns="0">
            <a:spAutoFit/>
          </a:bodyPr>
          <a:lstStyle/>
          <a:p>
            <a:pPr algn="ctr">
              <a:lnSpc>
                <a:spcPts val="9363"/>
              </a:lnSpc>
            </a:pPr>
            <a:r>
              <a:rPr lang="en-US" b="true" sz="9363" spc="-466">
                <a:solidFill>
                  <a:srgbClr val="181B24"/>
                </a:solidFill>
                <a:latin typeface="Canva Sans Bold"/>
                <a:ea typeface="Canva Sans Bold"/>
                <a:cs typeface="Canva Sans Bold"/>
                <a:sym typeface="Canva Sans Bold"/>
              </a:rPr>
              <a:t>Wearable device for predicting Epileptic Seizures using AI</a:t>
            </a:r>
          </a:p>
          <a:p>
            <a:pPr algn="l">
              <a:lnSpc>
                <a:spcPts val="11456"/>
              </a:lnSpc>
            </a:pPr>
          </a:p>
        </p:txBody>
      </p:sp>
      <p:sp>
        <p:nvSpPr>
          <p:cNvPr name="TextBox 63" id="63"/>
          <p:cNvSpPr txBox="true"/>
          <p:nvPr/>
        </p:nvSpPr>
        <p:spPr>
          <a:xfrm rot="0">
            <a:off x="20243657" y="35292419"/>
            <a:ext cx="3973019" cy="686619"/>
          </a:xfrm>
          <a:prstGeom prst="rect">
            <a:avLst/>
          </a:prstGeom>
        </p:spPr>
        <p:txBody>
          <a:bodyPr anchor="t" rtlCol="false" tIns="0" lIns="0" bIns="0" rIns="0">
            <a:spAutoFit/>
          </a:bodyPr>
          <a:lstStyle/>
          <a:p>
            <a:pPr algn="ctr">
              <a:lnSpc>
                <a:spcPts val="5825"/>
              </a:lnSpc>
            </a:pPr>
            <a:r>
              <a:rPr lang="en-US" sz="5548" b="true">
                <a:solidFill>
                  <a:srgbClr val="FEFFFA"/>
                </a:solidFill>
                <a:latin typeface="Darker Grotesque Bold"/>
                <a:ea typeface="Darker Grotesque Bold"/>
                <a:cs typeface="Darker Grotesque Bold"/>
                <a:sym typeface="Darker Grotesque Bold"/>
              </a:rPr>
              <a:t>CONCLUSION</a:t>
            </a:r>
          </a:p>
        </p:txBody>
      </p:sp>
      <p:sp>
        <p:nvSpPr>
          <p:cNvPr name="TextBox 64" id="64"/>
          <p:cNvSpPr txBox="true"/>
          <p:nvPr/>
        </p:nvSpPr>
        <p:spPr>
          <a:xfrm rot="0">
            <a:off x="5757248" y="18364061"/>
            <a:ext cx="4418400" cy="610438"/>
          </a:xfrm>
          <a:prstGeom prst="rect">
            <a:avLst/>
          </a:prstGeom>
        </p:spPr>
        <p:txBody>
          <a:bodyPr anchor="t" rtlCol="false" tIns="0" lIns="0" bIns="0" rIns="0">
            <a:spAutoFit/>
          </a:bodyPr>
          <a:lstStyle/>
          <a:p>
            <a:pPr algn="ctr">
              <a:lnSpc>
                <a:spcPts val="5825"/>
              </a:lnSpc>
            </a:pPr>
            <a:r>
              <a:rPr lang="en-US" sz="5548" b="true">
                <a:solidFill>
                  <a:srgbClr val="FEFFFA"/>
                </a:solidFill>
                <a:latin typeface="Darker Grotesque Bold"/>
                <a:ea typeface="Darker Grotesque Bold"/>
                <a:cs typeface="Darker Grotesque Bold"/>
                <a:sym typeface="Darker Grotesque Bold"/>
              </a:rPr>
              <a:t>METHODOLOGY</a:t>
            </a:r>
          </a:p>
        </p:txBody>
      </p:sp>
      <p:sp>
        <p:nvSpPr>
          <p:cNvPr name="TextBox 65" id="65"/>
          <p:cNvSpPr txBox="true"/>
          <p:nvPr/>
        </p:nvSpPr>
        <p:spPr>
          <a:xfrm rot="0">
            <a:off x="3249248" y="20769088"/>
            <a:ext cx="6830457" cy="1751651"/>
          </a:xfrm>
          <a:prstGeom prst="rect">
            <a:avLst/>
          </a:prstGeom>
        </p:spPr>
        <p:txBody>
          <a:bodyPr anchor="t" rtlCol="false" tIns="0" lIns="0" bIns="0" rIns="0">
            <a:spAutoFit/>
          </a:bodyPr>
          <a:lstStyle/>
          <a:p>
            <a:pPr algn="l">
              <a:lnSpc>
                <a:spcPts val="4200"/>
              </a:lnSpc>
            </a:pPr>
            <a:r>
              <a:rPr lang="en-US" b="true" sz="3000">
                <a:solidFill>
                  <a:srgbClr val="000000"/>
                </a:solidFill>
                <a:latin typeface="Canva Sans Bold"/>
                <a:ea typeface="Canva Sans Bold"/>
                <a:cs typeface="Canva Sans Bold"/>
                <a:sym typeface="Canva Sans Bold"/>
              </a:rPr>
              <a:t>Data Acquisition:</a:t>
            </a:r>
          </a:p>
          <a:p>
            <a:pPr algn="l" marL="755361" indent="-151072" lvl="4">
              <a:lnSpc>
                <a:spcPts val="3249"/>
              </a:lnSpc>
              <a:buFont typeface="Arial"/>
              <a:buChar char="•"/>
            </a:pPr>
            <a:r>
              <a:rPr lang="en-US" sz="2320">
                <a:solidFill>
                  <a:srgbClr val="000000"/>
                </a:solidFill>
                <a:latin typeface="Canva Sans"/>
                <a:ea typeface="Canva Sans"/>
                <a:cs typeface="Canva Sans"/>
                <a:sym typeface="Canva Sans"/>
              </a:rPr>
              <a:t>EEG headband collects brain signals</a:t>
            </a:r>
          </a:p>
          <a:p>
            <a:pPr algn="l" marL="755361" indent="-151072" lvl="4">
              <a:lnSpc>
                <a:spcPts val="3249"/>
              </a:lnSpc>
              <a:buFont typeface="Arial"/>
              <a:buChar char="•"/>
            </a:pPr>
            <a:r>
              <a:rPr lang="en-US" sz="2320">
                <a:solidFill>
                  <a:srgbClr val="000000"/>
                </a:solidFill>
                <a:latin typeface="Canva Sans"/>
                <a:ea typeface="Canva Sans"/>
                <a:cs typeface="Canva Sans"/>
                <a:sym typeface="Canva Sans"/>
              </a:rPr>
              <a:t>Wrist sensor collects [HR,HRV,Spo2,Motion]</a:t>
            </a:r>
          </a:p>
        </p:txBody>
      </p:sp>
      <p:sp>
        <p:nvSpPr>
          <p:cNvPr name="TextBox 66" id="66"/>
          <p:cNvSpPr txBox="true"/>
          <p:nvPr/>
        </p:nvSpPr>
        <p:spPr>
          <a:xfrm rot="0">
            <a:off x="20655648" y="26840648"/>
            <a:ext cx="2604581" cy="686619"/>
          </a:xfrm>
          <a:prstGeom prst="rect">
            <a:avLst/>
          </a:prstGeom>
        </p:spPr>
        <p:txBody>
          <a:bodyPr anchor="t" rtlCol="false" tIns="0" lIns="0" bIns="0" rIns="0">
            <a:spAutoFit/>
          </a:bodyPr>
          <a:lstStyle/>
          <a:p>
            <a:pPr algn="ctr">
              <a:lnSpc>
                <a:spcPts val="5825"/>
              </a:lnSpc>
            </a:pPr>
            <a:r>
              <a:rPr lang="en-US" sz="5548" b="true">
                <a:solidFill>
                  <a:srgbClr val="FEFFFA"/>
                </a:solidFill>
                <a:latin typeface="Darker Grotesque Bold"/>
                <a:ea typeface="Darker Grotesque Bold"/>
                <a:cs typeface="Darker Grotesque Bold"/>
                <a:sym typeface="Darker Grotesque Bold"/>
              </a:rPr>
              <a:t>RESULTS</a:t>
            </a:r>
          </a:p>
        </p:txBody>
      </p:sp>
      <p:sp>
        <p:nvSpPr>
          <p:cNvPr name="TextBox 67" id="67"/>
          <p:cNvSpPr txBox="true"/>
          <p:nvPr/>
        </p:nvSpPr>
        <p:spPr>
          <a:xfrm rot="0">
            <a:off x="3249248" y="23617307"/>
            <a:ext cx="6904638" cy="1342098"/>
          </a:xfrm>
          <a:prstGeom prst="rect">
            <a:avLst/>
          </a:prstGeom>
        </p:spPr>
        <p:txBody>
          <a:bodyPr anchor="t" rtlCol="false" tIns="0" lIns="0" bIns="0" rIns="0">
            <a:spAutoFit/>
          </a:bodyPr>
          <a:lstStyle/>
          <a:p>
            <a:pPr algn="l">
              <a:lnSpc>
                <a:spcPts val="4200"/>
              </a:lnSpc>
            </a:pPr>
            <a:r>
              <a:rPr lang="en-US" b="true" sz="3000">
                <a:solidFill>
                  <a:srgbClr val="000000"/>
                </a:solidFill>
                <a:latin typeface="Canva Sans Bold"/>
                <a:ea typeface="Canva Sans Bold"/>
                <a:cs typeface="Canva Sans Bold"/>
                <a:sym typeface="Canva Sans Bold"/>
              </a:rPr>
              <a:t>Processing:</a:t>
            </a:r>
          </a:p>
          <a:p>
            <a:pPr algn="l" marL="755172" indent="-151034" lvl="4">
              <a:lnSpc>
                <a:spcPts val="3248"/>
              </a:lnSpc>
              <a:buFont typeface="Arial"/>
              <a:buChar char="•"/>
            </a:pPr>
            <a:r>
              <a:rPr lang="en-US" sz="2319">
                <a:solidFill>
                  <a:srgbClr val="000000"/>
                </a:solidFill>
                <a:latin typeface="Canva Sans"/>
                <a:ea typeface="Canva Sans"/>
                <a:cs typeface="Canva Sans"/>
                <a:sym typeface="Canva Sans"/>
              </a:rPr>
              <a:t>Noise removal and filtering</a:t>
            </a:r>
          </a:p>
          <a:p>
            <a:pPr algn="l" marL="755172" indent="-151034" lvl="4">
              <a:lnSpc>
                <a:spcPts val="3248"/>
              </a:lnSpc>
              <a:buFont typeface="Arial"/>
              <a:buChar char="•"/>
            </a:pPr>
            <a:r>
              <a:rPr lang="en-US" sz="2319">
                <a:solidFill>
                  <a:srgbClr val="000000"/>
                </a:solidFill>
                <a:latin typeface="Canva Sans"/>
                <a:ea typeface="Canva Sans"/>
                <a:cs typeface="Canva Sans"/>
                <a:sym typeface="Canva Sans"/>
              </a:rPr>
              <a:t>Signal synchronization and segmentation</a:t>
            </a:r>
          </a:p>
        </p:txBody>
      </p:sp>
      <p:sp>
        <p:nvSpPr>
          <p:cNvPr name="TextBox 68" id="68"/>
          <p:cNvSpPr txBox="true"/>
          <p:nvPr/>
        </p:nvSpPr>
        <p:spPr>
          <a:xfrm rot="0">
            <a:off x="3249248" y="26202861"/>
            <a:ext cx="6789610" cy="2142203"/>
          </a:xfrm>
          <a:prstGeom prst="rect">
            <a:avLst/>
          </a:prstGeom>
        </p:spPr>
        <p:txBody>
          <a:bodyPr anchor="t" rtlCol="false" tIns="0" lIns="0" bIns="0" rIns="0">
            <a:spAutoFit/>
          </a:bodyPr>
          <a:lstStyle/>
          <a:p>
            <a:pPr algn="l">
              <a:lnSpc>
                <a:spcPts val="4197"/>
              </a:lnSpc>
            </a:pPr>
            <a:r>
              <a:rPr lang="en-US" b="true" sz="2997">
                <a:solidFill>
                  <a:srgbClr val="000000"/>
                </a:solidFill>
                <a:latin typeface="Canva Sans Bold"/>
                <a:ea typeface="Canva Sans Bold"/>
                <a:cs typeface="Canva Sans Bold"/>
                <a:sym typeface="Canva Sans Bold"/>
              </a:rPr>
              <a:t>AI Model:</a:t>
            </a:r>
          </a:p>
          <a:p>
            <a:pPr algn="l" marL="755154" indent="-151031" lvl="4">
              <a:lnSpc>
                <a:spcPts val="3248"/>
              </a:lnSpc>
              <a:buFont typeface="Arial"/>
              <a:buChar char="•"/>
            </a:pPr>
            <a:r>
              <a:rPr lang="en-US" sz="2319">
                <a:solidFill>
                  <a:srgbClr val="000000"/>
                </a:solidFill>
                <a:latin typeface="Canva Sans"/>
                <a:ea typeface="Canva Sans"/>
                <a:cs typeface="Canva Sans"/>
                <a:sym typeface="Canva Sans"/>
              </a:rPr>
              <a:t>Preprocess EEG signals</a:t>
            </a:r>
          </a:p>
          <a:p>
            <a:pPr algn="l" marL="755154" indent="-151031" lvl="4">
              <a:lnSpc>
                <a:spcPts val="3248"/>
              </a:lnSpc>
              <a:buFont typeface="Arial"/>
              <a:buChar char="•"/>
            </a:pPr>
            <a:r>
              <a:rPr lang="en-US" sz="2319">
                <a:solidFill>
                  <a:srgbClr val="000000"/>
                </a:solidFill>
                <a:latin typeface="Canva Sans"/>
                <a:ea typeface="Canva Sans"/>
                <a:cs typeface="Canva Sans"/>
                <a:sym typeface="Canva Sans"/>
              </a:rPr>
              <a:t>Extract features using CNN</a:t>
            </a:r>
          </a:p>
          <a:p>
            <a:pPr algn="l" marL="755154" indent="-151031" lvl="4">
              <a:lnSpc>
                <a:spcPts val="3248"/>
              </a:lnSpc>
              <a:buFont typeface="Arial"/>
              <a:buChar char="•"/>
            </a:pPr>
            <a:r>
              <a:rPr lang="en-US" sz="2319">
                <a:solidFill>
                  <a:srgbClr val="000000"/>
                </a:solidFill>
                <a:latin typeface="Canva Sans"/>
                <a:ea typeface="Canva Sans"/>
                <a:cs typeface="Canva Sans"/>
                <a:sym typeface="Canva Sans"/>
              </a:rPr>
              <a:t>Apply Deep Learning and Machine Learning models</a:t>
            </a:r>
          </a:p>
        </p:txBody>
      </p:sp>
      <p:sp>
        <p:nvSpPr>
          <p:cNvPr name="TextBox 69" id="69"/>
          <p:cNvSpPr txBox="true"/>
          <p:nvPr/>
        </p:nvSpPr>
        <p:spPr>
          <a:xfrm rot="0">
            <a:off x="3249248" y="29551298"/>
            <a:ext cx="6904638" cy="1751673"/>
          </a:xfrm>
          <a:prstGeom prst="rect">
            <a:avLst/>
          </a:prstGeom>
        </p:spPr>
        <p:txBody>
          <a:bodyPr anchor="t" rtlCol="false" tIns="0" lIns="0" bIns="0" rIns="0">
            <a:spAutoFit/>
          </a:bodyPr>
          <a:lstStyle/>
          <a:p>
            <a:pPr algn="l">
              <a:lnSpc>
                <a:spcPts val="4200"/>
              </a:lnSpc>
            </a:pPr>
            <a:r>
              <a:rPr lang="en-US" b="true" sz="3000">
                <a:solidFill>
                  <a:srgbClr val="000000"/>
                </a:solidFill>
                <a:latin typeface="Canva Sans Bold"/>
                <a:ea typeface="Canva Sans Bold"/>
                <a:cs typeface="Canva Sans Bold"/>
                <a:sym typeface="Canva Sans Bold"/>
              </a:rPr>
              <a:t>Alert &amp; Notification System:</a:t>
            </a:r>
          </a:p>
          <a:p>
            <a:pPr algn="l" marL="755172" indent="-151034" lvl="4">
              <a:lnSpc>
                <a:spcPts val="3248"/>
              </a:lnSpc>
              <a:buFont typeface="Arial"/>
              <a:buChar char="•"/>
            </a:pPr>
            <a:r>
              <a:rPr lang="en-US" sz="2319">
                <a:solidFill>
                  <a:srgbClr val="000000"/>
                </a:solidFill>
                <a:latin typeface="Canva Sans"/>
                <a:ea typeface="Canva Sans"/>
                <a:cs typeface="Canva Sans"/>
                <a:sym typeface="Canva Sans"/>
              </a:rPr>
              <a:t>Generate early warning</a:t>
            </a:r>
          </a:p>
          <a:p>
            <a:pPr algn="l" marL="755172" indent="-151034" lvl="4">
              <a:lnSpc>
                <a:spcPts val="3248"/>
              </a:lnSpc>
              <a:buFont typeface="Arial"/>
              <a:buChar char="•"/>
            </a:pPr>
            <a:r>
              <a:rPr lang="en-US" sz="2319">
                <a:solidFill>
                  <a:srgbClr val="000000"/>
                </a:solidFill>
                <a:latin typeface="Canva Sans"/>
                <a:ea typeface="Canva Sans"/>
                <a:cs typeface="Canva Sans"/>
                <a:sym typeface="Canva Sans"/>
              </a:rPr>
              <a:t>Notify patient and caregivers</a:t>
            </a:r>
          </a:p>
          <a:p>
            <a:pPr algn="l" marL="755172" indent="-151034" lvl="4">
              <a:lnSpc>
                <a:spcPts val="3248"/>
              </a:lnSpc>
              <a:buFont typeface="Arial"/>
              <a:buChar char="•"/>
            </a:pPr>
            <a:r>
              <a:rPr lang="en-US" sz="2319">
                <a:solidFill>
                  <a:srgbClr val="000000"/>
                </a:solidFill>
                <a:latin typeface="Canva Sans"/>
                <a:ea typeface="Canva Sans"/>
                <a:cs typeface="Canva Sans"/>
                <a:sym typeface="Canva Sans"/>
              </a:rPr>
              <a:t>Enable quick response</a:t>
            </a:r>
          </a:p>
        </p:txBody>
      </p:sp>
      <p:sp>
        <p:nvSpPr>
          <p:cNvPr name="TextBox 70" id="70"/>
          <p:cNvSpPr txBox="true"/>
          <p:nvPr/>
        </p:nvSpPr>
        <p:spPr>
          <a:xfrm rot="0">
            <a:off x="16543923" y="36749964"/>
            <a:ext cx="11531210" cy="3236490"/>
          </a:xfrm>
          <a:prstGeom prst="rect">
            <a:avLst/>
          </a:prstGeom>
        </p:spPr>
        <p:txBody>
          <a:bodyPr anchor="t" rtlCol="false" tIns="0" lIns="0" bIns="0" rIns="0">
            <a:spAutoFit/>
          </a:bodyPr>
          <a:lstStyle/>
          <a:p>
            <a:pPr algn="ctr">
              <a:lnSpc>
                <a:spcPts val="4311"/>
              </a:lnSpc>
            </a:pPr>
            <a:r>
              <a:rPr lang="en-US" b="true" sz="3080">
                <a:solidFill>
                  <a:srgbClr val="000000"/>
                </a:solidFill>
                <a:latin typeface="Canva Sans Bold"/>
                <a:ea typeface="Canva Sans Bold"/>
                <a:cs typeface="Canva Sans Bold"/>
                <a:sym typeface="Canva Sans Bold"/>
              </a:rPr>
              <a:t>The system provides an effective solution for early seizure prediction using multi-sensor data and machine learning. Real-time alerts and caregiver notification improve patient safety and enable timely intervention. This approach supports more reliable and practical seizure management in wearable healthcare systems.</a:t>
            </a:r>
          </a:p>
        </p:txBody>
      </p:sp>
      <p:sp>
        <p:nvSpPr>
          <p:cNvPr name="TextBox 71" id="71"/>
          <p:cNvSpPr txBox="true"/>
          <p:nvPr/>
        </p:nvSpPr>
        <p:spPr>
          <a:xfrm rot="0">
            <a:off x="12871162" y="12001857"/>
            <a:ext cx="3054086" cy="610181"/>
          </a:xfrm>
          <a:prstGeom prst="rect">
            <a:avLst/>
          </a:prstGeom>
        </p:spPr>
        <p:txBody>
          <a:bodyPr anchor="t" rtlCol="false" tIns="0" lIns="0" bIns="0" rIns="0">
            <a:spAutoFit/>
          </a:bodyPr>
          <a:lstStyle/>
          <a:p>
            <a:pPr algn="ctr">
              <a:lnSpc>
                <a:spcPts val="5827"/>
              </a:lnSpc>
            </a:pPr>
            <a:r>
              <a:rPr lang="en-US" sz="5548" b="true">
                <a:solidFill>
                  <a:srgbClr val="FEFFFA"/>
                </a:solidFill>
                <a:latin typeface="Darker Grotesque Bold"/>
                <a:ea typeface="Darker Grotesque Bold"/>
                <a:cs typeface="Darker Grotesque Bold"/>
                <a:sym typeface="Darker Grotesque Bold"/>
              </a:rPr>
              <a:t>ABSTRACT</a:t>
            </a:r>
          </a:p>
        </p:txBody>
      </p:sp>
      <p:sp>
        <p:nvSpPr>
          <p:cNvPr name="TextBox 72" id="72"/>
          <p:cNvSpPr txBox="true"/>
          <p:nvPr/>
        </p:nvSpPr>
        <p:spPr>
          <a:xfrm rot="0">
            <a:off x="9803486" y="34040850"/>
            <a:ext cx="1296610" cy="280988"/>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Seizure Detected</a:t>
            </a:r>
          </a:p>
        </p:txBody>
      </p:sp>
      <p:sp>
        <p:nvSpPr>
          <p:cNvPr name="TextBox 73" id="73"/>
          <p:cNvSpPr txBox="true"/>
          <p:nvPr/>
        </p:nvSpPr>
        <p:spPr>
          <a:xfrm rot="0">
            <a:off x="13157190" y="32346879"/>
            <a:ext cx="1296610" cy="114655"/>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Alert Patient</a:t>
            </a:r>
          </a:p>
        </p:txBody>
      </p:sp>
      <p:sp>
        <p:nvSpPr>
          <p:cNvPr name="TextBox 74" id="74"/>
          <p:cNvSpPr txBox="true"/>
          <p:nvPr/>
        </p:nvSpPr>
        <p:spPr>
          <a:xfrm rot="0">
            <a:off x="13157190" y="31214355"/>
            <a:ext cx="1296610" cy="280988"/>
          </a:xfrm>
          <a:prstGeom prst="rect">
            <a:avLst/>
          </a:prstGeom>
        </p:spPr>
        <p:txBody>
          <a:bodyPr anchor="t" rtlCol="false" tIns="0" lIns="0" bIns="0" rIns="0">
            <a:spAutoFit/>
          </a:bodyPr>
          <a:lstStyle/>
          <a:p>
            <a:pPr algn="ctr">
              <a:lnSpc>
                <a:spcPts val="1308"/>
              </a:lnSpc>
            </a:pPr>
            <a:r>
              <a:rPr lang="en-US" sz="1308">
                <a:solidFill>
                  <a:srgbClr val="FFFFFF"/>
                </a:solidFill>
                <a:latin typeface="Inter"/>
                <a:ea typeface="Inter"/>
                <a:cs typeface="Inter"/>
                <a:sym typeface="Inter"/>
              </a:rPr>
              <a:t>Instant Cloud Backup</a:t>
            </a:r>
          </a:p>
        </p:txBody>
      </p:sp>
      <p:sp>
        <p:nvSpPr>
          <p:cNvPr name="TextBox 75" id="75"/>
          <p:cNvSpPr txBox="true"/>
          <p:nvPr/>
        </p:nvSpPr>
        <p:spPr>
          <a:xfrm rot="0">
            <a:off x="6822010" y="35932058"/>
            <a:ext cx="1144438" cy="276046"/>
          </a:xfrm>
          <a:prstGeom prst="rect">
            <a:avLst/>
          </a:prstGeom>
        </p:spPr>
        <p:txBody>
          <a:bodyPr anchor="t" rtlCol="false" tIns="0" lIns="0" bIns="0" rIns="0">
            <a:spAutoFit/>
          </a:bodyPr>
          <a:lstStyle/>
          <a:p>
            <a:pPr algn="ctr">
              <a:lnSpc>
                <a:spcPts val="1223"/>
              </a:lnSpc>
            </a:pPr>
            <a:r>
              <a:rPr lang="en-US" sz="1223">
                <a:solidFill>
                  <a:srgbClr val="FFFFFF"/>
                </a:solidFill>
                <a:latin typeface="Inter"/>
                <a:ea typeface="Inter"/>
                <a:cs typeface="Inter"/>
                <a:sym typeface="Inter"/>
              </a:rPr>
              <a:t>Periodic Cloud Backup</a:t>
            </a:r>
          </a:p>
        </p:txBody>
      </p:sp>
      <p:sp>
        <p:nvSpPr>
          <p:cNvPr name="TextBox 76" id="76"/>
          <p:cNvSpPr txBox="true"/>
          <p:nvPr/>
        </p:nvSpPr>
        <p:spPr>
          <a:xfrm rot="0">
            <a:off x="16698133" y="27960071"/>
            <a:ext cx="5001219" cy="784367"/>
          </a:xfrm>
          <a:prstGeom prst="rect">
            <a:avLst/>
          </a:prstGeom>
        </p:spPr>
        <p:txBody>
          <a:bodyPr anchor="t" rtlCol="false" tIns="0" lIns="0" bIns="0" rIns="0">
            <a:spAutoFit/>
          </a:bodyPr>
          <a:lstStyle/>
          <a:p>
            <a:pPr algn="ctr">
              <a:lnSpc>
                <a:spcPts val="3018"/>
              </a:lnSpc>
            </a:pPr>
            <a:r>
              <a:rPr lang="en-US" b="true" sz="2155">
                <a:solidFill>
                  <a:srgbClr val="000000"/>
                </a:solidFill>
                <a:latin typeface="Canva Sans Bold"/>
                <a:ea typeface="Canva Sans Bold"/>
                <a:cs typeface="Canva Sans Bold"/>
                <a:sym typeface="Canva Sans Bold"/>
              </a:rPr>
              <a:t>Prediction Using EEG Signal Model Performance</a:t>
            </a:r>
          </a:p>
        </p:txBody>
      </p:sp>
      <p:sp>
        <p:nvSpPr>
          <p:cNvPr name="TextBox 77" id="77"/>
          <p:cNvSpPr txBox="true"/>
          <p:nvPr/>
        </p:nvSpPr>
        <p:spPr>
          <a:xfrm rot="0">
            <a:off x="21980400" y="27926300"/>
            <a:ext cx="5911857" cy="784367"/>
          </a:xfrm>
          <a:prstGeom prst="rect">
            <a:avLst/>
          </a:prstGeom>
        </p:spPr>
        <p:txBody>
          <a:bodyPr anchor="t" rtlCol="false" tIns="0" lIns="0" bIns="0" rIns="0">
            <a:spAutoFit/>
          </a:bodyPr>
          <a:lstStyle/>
          <a:p>
            <a:pPr algn="ctr">
              <a:lnSpc>
                <a:spcPts val="3018"/>
              </a:lnSpc>
            </a:pPr>
            <a:r>
              <a:rPr lang="en-US" b="true" sz="2155">
                <a:solidFill>
                  <a:srgbClr val="000000"/>
                </a:solidFill>
                <a:latin typeface="Canva Sans Bold"/>
                <a:ea typeface="Canva Sans Bold"/>
                <a:cs typeface="Canva Sans Bold"/>
                <a:sym typeface="Canva Sans Bold"/>
              </a:rPr>
              <a:t>Physiological Signal-Based Detection Model Performance</a:t>
            </a:r>
          </a:p>
        </p:txBody>
      </p:sp>
      <p:sp>
        <p:nvSpPr>
          <p:cNvPr name="TextBox 78" id="78"/>
          <p:cNvSpPr txBox="true"/>
          <p:nvPr/>
        </p:nvSpPr>
        <p:spPr>
          <a:xfrm rot="0">
            <a:off x="20288486" y="18326380"/>
            <a:ext cx="3740923" cy="762886"/>
          </a:xfrm>
          <a:prstGeom prst="rect">
            <a:avLst/>
          </a:prstGeom>
        </p:spPr>
        <p:txBody>
          <a:bodyPr anchor="t" rtlCol="false" tIns="0" lIns="0" bIns="0" rIns="0">
            <a:spAutoFit/>
          </a:bodyPr>
          <a:lstStyle/>
          <a:p>
            <a:pPr algn="ctr">
              <a:lnSpc>
                <a:spcPts val="5825"/>
              </a:lnSpc>
            </a:pPr>
            <a:r>
              <a:rPr lang="en-US" sz="5548" b="true">
                <a:solidFill>
                  <a:srgbClr val="FEFFFA"/>
                </a:solidFill>
                <a:latin typeface="Darker Grotesque Bold"/>
                <a:ea typeface="Darker Grotesque Bold"/>
                <a:cs typeface="Darker Grotesque Bold"/>
                <a:sym typeface="Darker Grotesque Bold"/>
              </a:rPr>
              <a:t>EXPERIMENT</a:t>
            </a:r>
          </a:p>
        </p:txBody>
      </p:sp>
      <p:grpSp>
        <p:nvGrpSpPr>
          <p:cNvPr name="Group 79" id="79"/>
          <p:cNvGrpSpPr/>
          <p:nvPr/>
        </p:nvGrpSpPr>
        <p:grpSpPr>
          <a:xfrm rot="0">
            <a:off x="20243657" y="22521824"/>
            <a:ext cx="3546604" cy="2503765"/>
            <a:chOff x="0" y="0"/>
            <a:chExt cx="6230430" cy="4398442"/>
          </a:xfrm>
        </p:grpSpPr>
        <p:sp>
          <p:nvSpPr>
            <p:cNvPr name="Freeform 80" id="80"/>
            <p:cNvSpPr/>
            <p:nvPr/>
          </p:nvSpPr>
          <p:spPr>
            <a:xfrm flipH="false" flipV="false" rot="0">
              <a:off x="0" y="0"/>
              <a:ext cx="6230493" cy="4398391"/>
            </a:xfrm>
            <a:custGeom>
              <a:avLst/>
              <a:gdLst/>
              <a:ahLst/>
              <a:cxnLst/>
              <a:rect r="r" b="b" t="t" l="l"/>
              <a:pathLst>
                <a:path h="4398391" w="6230493">
                  <a:moveTo>
                    <a:pt x="0" y="0"/>
                  </a:moveTo>
                  <a:lnTo>
                    <a:pt x="6230493" y="0"/>
                  </a:lnTo>
                  <a:lnTo>
                    <a:pt x="6230493" y="4398391"/>
                  </a:lnTo>
                  <a:lnTo>
                    <a:pt x="0" y="4398391"/>
                  </a:lnTo>
                  <a:lnTo>
                    <a:pt x="0" y="0"/>
                  </a:lnTo>
                  <a:close/>
                </a:path>
              </a:pathLst>
            </a:custGeom>
            <a:blipFill>
              <a:blip r:embed="rId48"/>
              <a:stretch>
                <a:fillRect l="-26" t="0" r="-25" b="-1"/>
              </a:stretch>
            </a:blipFill>
          </p:spPr>
        </p:sp>
      </p:grpSp>
      <p:sp>
        <p:nvSpPr>
          <p:cNvPr name="TextBox 81" id="81"/>
          <p:cNvSpPr txBox="true"/>
          <p:nvPr/>
        </p:nvSpPr>
        <p:spPr>
          <a:xfrm rot="0">
            <a:off x="16242763" y="19655580"/>
            <a:ext cx="11832369" cy="2693459"/>
          </a:xfrm>
          <a:prstGeom prst="rect">
            <a:avLst/>
          </a:prstGeom>
        </p:spPr>
        <p:txBody>
          <a:bodyPr anchor="t" rtlCol="false" tIns="0" lIns="0" bIns="0" rIns="0">
            <a:spAutoFit/>
          </a:bodyPr>
          <a:lstStyle/>
          <a:p>
            <a:pPr algn="ctr">
              <a:lnSpc>
                <a:spcPts val="4317"/>
              </a:lnSpc>
            </a:pPr>
            <a:r>
              <a:rPr lang="en-US" sz="3084" b="true">
                <a:solidFill>
                  <a:srgbClr val="000000"/>
                </a:solidFill>
                <a:latin typeface="Canva Sans Bold"/>
                <a:ea typeface="Canva Sans Bold"/>
                <a:cs typeface="Canva Sans Bold"/>
                <a:sym typeface="Canva Sans Bold"/>
              </a:rPr>
              <a:t>A </a:t>
            </a:r>
            <a:r>
              <a:rPr lang="en-US" b="true" sz="3084">
                <a:solidFill>
                  <a:srgbClr val="000000"/>
                </a:solidFill>
                <a:latin typeface="Canva Sans Bold"/>
                <a:ea typeface="Canva Sans Bold"/>
                <a:cs typeface="Canva Sans Bold"/>
                <a:sym typeface="Canva Sans Bold"/>
              </a:rPr>
              <a:t>hardware setup using MAX30102 (HR &amp; SpO₂) and BMI160 (motion) sensors is connected to a Raspberry Pi 4. Sensor and EEG inputs are processed using two pre-trained models for real-time seizure prediction, achieving reliable performance with timely alerts and caregiver notification.</a:t>
            </a:r>
          </a:p>
        </p:txBody>
      </p:sp>
      <p:sp>
        <p:nvSpPr>
          <p:cNvPr name="TextBox 82" id="82"/>
          <p:cNvSpPr txBox="true"/>
          <p:nvPr/>
        </p:nvSpPr>
        <p:spPr>
          <a:xfrm rot="0">
            <a:off x="10473019" y="33356898"/>
            <a:ext cx="331887" cy="207645"/>
          </a:xfrm>
          <a:prstGeom prst="rect">
            <a:avLst/>
          </a:prstGeom>
        </p:spPr>
        <p:txBody>
          <a:bodyPr anchor="t" rtlCol="false" tIns="0" lIns="0" bIns="0" rIns="0">
            <a:spAutoFit/>
          </a:bodyPr>
          <a:lstStyle/>
          <a:p>
            <a:pPr algn="ctr" rtl="true">
              <a:lnSpc>
                <a:spcPts val="1679"/>
              </a:lnSpc>
              <a:spcBef>
                <a:spcPct val="0"/>
              </a:spcBef>
            </a:pPr>
            <a:r>
              <a:rPr lang="ar-EG" sz="1200">
                <a:solidFill>
                  <a:srgbClr val="000000"/>
                </a:solidFill>
                <a:latin typeface="Inter"/>
                <a:ea typeface="Inter"/>
                <a:cs typeface="Inter"/>
                <a:sym typeface="Inter"/>
                <a:rtl val="true"/>
              </a:rPr>
              <a:t> </a:t>
            </a:r>
            <a:r>
              <a:rPr lang="en-US" sz="1200">
                <a:solidFill>
                  <a:srgbClr val="000000"/>
                </a:solidFill>
                <a:latin typeface="Inter"/>
                <a:ea typeface="Inter"/>
                <a:cs typeface="Inter"/>
                <a:sym typeface="Inter"/>
              </a:rPr>
              <a:t>YES</a:t>
            </a:r>
          </a:p>
        </p:txBody>
      </p:sp>
      <p:sp>
        <p:nvSpPr>
          <p:cNvPr name="TextBox 83" id="83"/>
          <p:cNvSpPr txBox="true"/>
          <p:nvPr/>
        </p:nvSpPr>
        <p:spPr>
          <a:xfrm rot="0">
            <a:off x="10473019" y="34878587"/>
            <a:ext cx="229344" cy="20764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Inter"/>
                <a:ea typeface="Inter"/>
                <a:cs typeface="Inter"/>
                <a:sym typeface="Inter"/>
              </a:rPr>
              <a:t>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DAHIzBdKQxU</dc:identifier>
  <dcterms:modified xsi:type="dcterms:W3CDTF">2011-08-01T06:04:30Z</dcterms:modified>
  <cp:revision>1</cp:revision>
  <dc:title>PROBLEM STATEMENT</dc:title>
</cp:coreProperties>
</file>